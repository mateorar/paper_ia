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ad2f76a3-a1f4-0e9a-ec96-f9328c8ed28f}">
          <p14:sldIdLst>
            <p14:sldId id="256"/>
            <p14:sldId id="257"/>
            <p14:sldId id="258"/>
          </p14:sldIdLst>
        </p14:section>
        <p14:section name="Arquitectura" id="{17679445-a18c-1a47-3bc9-030f6b5d5280}">
          <p14:sldIdLst>
            <p14:sldId id="259"/>
            <p14:sldId id="260"/>
            <p14:sldId id="261"/>
            <p14:sldId id="262"/>
            <p14:sldId id="263"/>
            <p14:sldId id="264"/>
            <p14:sldId id="265"/>
          </p14:sldIdLst>
        </p14:section>
        <p14:section name="Discusión" id="{b5582846-bf32-e3f5-5dcc-d74e366281cb}">
          <p14:sldIdLst>
            <p14:sldId id="266"/>
            <p14:sldId id="267"/>
          </p14:sldIdLst>
        </p14:section>
        <p14:section name="Cierre" id="{07f61e03-d55e-3c6e-761b-750fdedc8ecb}">
          <p14:sldIdLst>
            <p14:sldId id="268"/>
          </p14:sldIdLst>
        </p14:section>
        <p14:section name="Repaso" id="{f5ccfac8-0687-ab7d-f055-2c5b9dc0418d}">
          <p14:sldIdLst>
            <p14:sldId id="269"/>
            <p14:sldId id="270"/>
            <p14:sldId id="271"/>
            <p14:sldId id="272"/>
            <p14:sldId id="273"/>
            <p14:sldId id="274"/>
            <p14:sldId id="275"/>
            <p14:sldId id="276"/>
            <p14:sldId id="277"/>
            <p14:sldId id="278"/>
            <p14:sldId id="279"/>
            <p14:sldId id="280"/>
            <p14:sldId id="281"/>
            <p14:sldId id="282"/>
          </p14:sldIdLst>
        </p14:section>
        <p14:section name="Cierre final" id="{7e4e8f3c-b334-9638-0602-bb08fc9c4bde}">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E2A3B"/>
                </a:solidFill>
                <a:latin typeface="+mn-lt"/>
              </a:defRPr>
            </a:pPr>
            <a:r>
              <a:rPr sz="1400" b="1" i="0" u="none" strike="noStrike">
                <a:solidFill>
                  <a:srgbClr val="0E2A3B"/>
                </a:solidFill>
                <a:latin typeface="+mn-lt"/>
              </a:rPr>
              <a:t>Error de calibración (ECE)</a:t>
            </a:r>
          </a:p>
        </c:rich>
      </c:tx>
      <c:layout/>
      <c:overlay val="0"/>
    </c:title>
    <c:autoTitleDeleted val="0"/>
    <c:plotArea>
      <c:layout/>
      <c:barChart>
        <c:barDir val="col"/>
        <c:grouping val="clustered"/>
        <c:varyColors val="0"/>
        <c:ser>
          <c:idx val="0"/>
          <c:order val="0"/>
          <c:tx>
            <c:strRef>
              <c:f>Sheet1!$B$1</c:f>
              <c:strCache>
                <c:ptCount val="1"/>
                <c:pt idx="0">
                  <c:v>ECE</c:v>
                </c:pt>
              </c:strCache>
            </c:strRef>
          </c:tx>
          <c:spPr>
            <a:solidFill>
              <a:srgbClr val="E05A3A"/>
            </a:solidFill>
            <a:effectLst/>
          </c:spPr>
          <c:invertIfNegative val="0"/>
          <c:dLbls>
            <c:numFmt formatCode="0.00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dPt>
            <c:idx val="0"/>
            <c:invertIfNegative val="0"/>
            <c:bubble3D val="0"/>
            <c:spPr>
              <a:solidFill>
                <a:srgbClr val="E05A3A"/>
              </a:solidFill>
              <a:effectLst/>
            </c:spPr>
          </c:dPt>
          <c:dPt>
            <c:idx val="1"/>
            <c:invertIfNegative val="0"/>
            <c:bubble3D val="0"/>
            <c:spPr>
              <a:solidFill>
                <a:srgbClr val="127C80"/>
              </a:solidFill>
              <a:effectLst/>
            </c:spPr>
          </c:dPt>
          <c:cat>
            <c:multiLvlStrRef>
              <c:f>Sheet1!$A$2:$A$3</c:f>
              <c:multiLvlStrCache>
                <c:ptCount val="2"/>
                <c:lvl>
                  <c:pt idx="0">
                    <c:v>Sin calibrar</c:v>
                  </c:pt>
                  <c:pt idx="1">
                    <c:v>Calibrado</c:v>
                  </c:pt>
                </c:lvl>
              </c:multiLvlStrCache>
            </c:multiLvlStrRef>
          </c:cat>
          <c:val>
            <c:numRef>
              <c:f>Sheet1!$B$2:$B$3</c:f>
              <c:numCache>
                <c:formatCode>General</c:formatCode>
                <c:ptCount val="2"/>
                <c:pt idx="0">
                  <c:v>0.096</c:v>
                </c:pt>
                <c:pt idx="1">
                  <c:v>0.013</c:v>
                </c:pt>
              </c:numCache>
            </c:numRef>
          </c:val>
        </c:ser>
        <c:dLbls>
          <c:numFmt formatCode="0.00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5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B6B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E2A3B"/>
                </a:solidFill>
                <a:latin typeface="+mn-lt"/>
              </a:defRPr>
            </a:pPr>
            <a:r>
              <a:rPr sz="1400" b="1" i="0" u="none" strike="noStrike">
                <a:solidFill>
                  <a:srgbClr val="0E2A3B"/>
                </a:solidFill>
                <a:latin typeface="+mn-lt"/>
              </a:rPr>
              <a:t>Afirmaciones falsas que pasan el filtro (de 5)</a:t>
            </a:r>
          </a:p>
        </c:rich>
      </c:tx>
      <c:layout/>
      <c:overlay val="0"/>
    </c:title>
    <c:autoTitleDeleted val="0"/>
    <c:plotArea>
      <c:layout/>
      <c:barChart>
        <c:barDir val="col"/>
        <c:grouping val="clustered"/>
        <c:varyColors val="0"/>
        <c:ser>
          <c:idx val="0"/>
          <c:order val="0"/>
          <c:tx>
            <c:strRef>
              <c:f>Sheet1!$B$1</c:f>
              <c:strCache>
                <c:ptCount val="1"/>
                <c:pt idx="0">
                  <c:v>Falsas</c:v>
                </c:pt>
              </c:strCache>
            </c:strRef>
          </c:tx>
          <c:spPr>
            <a:solidFill>
              <a:srgbClr val="E05A3A"/>
            </a:solidFill>
            <a:effectLst/>
          </c:spPr>
          <c:invertIfNegative val="0"/>
          <c:dLbls>
            <c:numFmt formatCode="#,##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dPt>
            <c:idx val="0"/>
            <c:invertIfNegative val="0"/>
            <c:bubble3D val="0"/>
            <c:spPr>
              <a:solidFill>
                <a:srgbClr val="E05A3A"/>
              </a:solidFill>
              <a:effectLst/>
            </c:spPr>
          </c:dPt>
          <c:dPt>
            <c:idx val="1"/>
            <c:invertIfNegative val="0"/>
            <c:bubble3D val="0"/>
            <c:spPr>
              <a:solidFill>
                <a:srgbClr val="127C80"/>
              </a:solidFill>
              <a:effectLst/>
            </c:spPr>
          </c:dPt>
          <c:cat>
            <c:multiLvlStrRef>
              <c:f>Sheet1!$A$2:$A$3</c:f>
              <c:multiLvlStrCache>
                <c:ptCount val="2"/>
                <c:lvl>
                  <c:pt idx="0">
                    <c:v>Regla 1: solo similitud</c:v>
                  </c:pt>
                  <c:pt idx="1">
                    <c:v>Regla 2: + verificador</c:v>
                  </c:pt>
                </c:lvl>
              </c:multiLvlStrCache>
            </c:multiLvlStrRef>
          </c:cat>
          <c:val>
            <c:numRef>
              <c:f>Sheet1!$B$2:$B$3</c:f>
              <c:numCache>
                <c:formatCode>General</c:formatCode>
                <c:ptCount val="2"/>
                <c:pt idx="0">
                  <c:v>5</c:v>
                </c:pt>
                <c:pt idx="1">
                  <c:v>1</c:v>
                </c:pt>
              </c:numCache>
            </c:numRef>
          </c:val>
        </c:ser>
        <c:dLbls>
          <c:numFmt formatCode="#,##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DDE5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6"/>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E2A3B"/>
                </a:solidFill>
                <a:latin typeface="+mn-lt"/>
              </a:defRPr>
            </a:pPr>
            <a:r>
              <a:rPr sz="1400" b="1" i="0" u="none" strike="noStrike">
                <a:solidFill>
                  <a:srgbClr val="0E2A3B"/>
                </a:solidFill>
                <a:latin typeface="+mn-lt"/>
              </a:rPr>
              <a:t>¿Qué empujó el riesgo de este paciente?</a:t>
            </a:r>
          </a:p>
        </c:rich>
      </c:tx>
      <c:layout/>
      <c:overlay val="0"/>
    </c:title>
    <c:autoTitleDeleted val="0"/>
    <c:plotArea>
      <c:layout/>
      <c:barChart>
        <c:barDir val="bar"/>
        <c:grouping val="clustered"/>
        <c:varyColors val="0"/>
        <c:ser>
          <c:idx val="0"/>
          <c:order val="0"/>
          <c:tx>
            <c:strRef>
              <c:f>Sheet1!$B$1</c:f>
              <c:strCache>
                <c:ptCount val="1"/>
                <c:pt idx="0">
                  <c:v>Contribución (pp)</c:v>
                </c:pt>
              </c:strCache>
            </c:strRef>
          </c:tx>
          <c:spPr>
            <a:solidFill>
              <a:srgbClr val="127C80"/>
            </a:solidFill>
            <a:effectLst/>
          </c:spPr>
          <c:invertIfNegative val="0"/>
          <c:dLbls>
            <c:numFmt formatCode="+0.0;-0.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dPt>
            <c:idx val="0"/>
            <c:invertIfNegative val="0"/>
            <c:bubble3D val="0"/>
            <c:spPr>
              <a:solidFill>
                <a:srgbClr val="127C80"/>
              </a:solidFill>
              <a:effectLst/>
            </c:spPr>
          </c:dPt>
          <c:dPt>
            <c:idx val="1"/>
            <c:invertIfNegative val="0"/>
            <c:bubble3D val="0"/>
            <c:spPr>
              <a:solidFill>
                <a:srgbClr val="127C80"/>
              </a:solidFill>
              <a:effectLst/>
            </c:spPr>
          </c:dPt>
          <c:dPt>
            <c:idx val="2"/>
            <c:invertIfNegative val="0"/>
            <c:bubble3D val="0"/>
            <c:spPr>
              <a:solidFill>
                <a:srgbClr val="C9D6DB"/>
              </a:solidFill>
              <a:effectLst/>
            </c:spPr>
          </c:dPt>
          <c:dPt>
            <c:idx val="3"/>
            <c:invertIfNegative val="0"/>
            <c:bubble3D val="0"/>
            <c:spPr>
              <a:solidFill>
                <a:srgbClr val="C9D6DB"/>
              </a:solidFill>
              <a:effectLst/>
            </c:spPr>
          </c:dPt>
          <c:dPt>
            <c:idx val="4"/>
            <c:invertIfNegative val="0"/>
            <c:bubble3D val="0"/>
            <c:spPr>
              <a:solidFill>
                <a:srgbClr val="E05A3A"/>
              </a:solidFill>
              <a:effectLst/>
            </c:spPr>
          </c:dPt>
          <c:cat>
            <c:multiLvlStrRef>
              <c:f>Sheet1!$A$2:$A$6</c:f>
              <c:multiLvlStrCache>
                <c:ptCount val="5"/>
                <c:lvl>
                  <c:pt idx="0">
                    <c:v>Comorbilidades</c:v>
                  </c:pt>
                  <c:pt idx="1">
                    <c:v>Edad</c:v>
                  </c:pt>
                  <c:pt idx="2">
                    <c:v>Baja adherencia</c:v>
                  </c:pt>
                  <c:pt idx="3">
                    <c:v>Deterioro renal</c:v>
                  </c:pt>
                  <c:pt idx="4">
                    <c:v>Zona de residencia</c:v>
                  </c:pt>
                </c:lvl>
              </c:multiLvlStrCache>
            </c:multiLvlStrRef>
          </c:cat>
          <c:val>
            <c:numRef>
              <c:f>Sheet1!$B$2:$B$6</c:f>
              <c:numCache>
                <c:formatCode>General</c:formatCode>
                <c:ptCount val="5"/>
                <c:pt idx="0">
                  <c:v>2.7</c:v>
                </c:pt>
                <c:pt idx="1">
                  <c:v>3.8</c:v>
                </c:pt>
                <c:pt idx="2">
                  <c:v>-10.7</c:v>
                </c:pt>
                <c:pt idx="3">
                  <c:v>-12.3</c:v>
                </c:pt>
                <c:pt idx="4">
                  <c:v>37.4</c:v>
                </c:pt>
              </c:numCache>
            </c:numRef>
          </c:val>
        </c:ser>
        <c:dLbls>
          <c:numFmt formatCode="+0.0;-0.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max val="50"/>
          <c:min val="-20"/>
        </c:scaling>
        <c:delete val="0"/>
        <c:axPos val="b"/>
        <c:majorGridlines>
          <c:spPr>
            <a:ln w="9525" cap="flat">
              <a:solidFill>
                <a:srgbClr val="DDE5E8"/>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B6B76"/>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E2A3B"/>
                </a:solidFill>
                <a:latin typeface="+mn-lt"/>
              </a:defRPr>
            </a:pPr>
            <a:r>
              <a:rPr sz="1400" b="1" i="0" u="none" strike="noStrike">
                <a:solidFill>
                  <a:srgbClr val="0E2A3B"/>
                </a:solidFill>
                <a:latin typeface="+mn-lt"/>
              </a:rPr>
              <a:t>Pacientes a los que les llega un error (%)</a:t>
            </a:r>
          </a:p>
        </c:rich>
      </c:tx>
      <c:layout/>
      <c:overlay val="0"/>
    </c:title>
    <c:autoTitleDeleted val="0"/>
    <c:plotArea>
      <c:layout/>
      <c:barChart>
        <c:barDir val="col"/>
        <c:grouping val="clustered"/>
        <c:varyColors val="0"/>
        <c:ser>
          <c:idx val="0"/>
          <c:order val="0"/>
          <c:tx>
            <c:strRef>
              <c:f>Sheet1!$B$1</c:f>
              <c:strCache>
                <c:ptCount val="1"/>
                <c:pt idx="0">
                  <c:v>Error (%)</c:v>
                </c:pt>
              </c:strCache>
            </c:strRef>
          </c:tx>
          <c:spPr>
            <a:solidFill>
              <a:srgbClr val="C9D6DB"/>
            </a:solidFill>
            <a:effectLst/>
          </c:spPr>
          <c:invertIfNegative val="0"/>
          <c:dLbls>
            <c:numFmt formatCode="0.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dPt>
            <c:idx val="0"/>
            <c:invertIfNegative val="0"/>
            <c:bubble3D val="0"/>
            <c:spPr>
              <a:solidFill>
                <a:srgbClr val="C9D6DB"/>
              </a:solidFill>
              <a:effectLst/>
            </c:spPr>
          </c:dPt>
          <c:dPt>
            <c:idx val="1"/>
            <c:invertIfNegative val="0"/>
            <c:bubble3D val="0"/>
            <c:spPr>
              <a:solidFill>
                <a:srgbClr val="127C80"/>
              </a:solidFill>
              <a:effectLst/>
            </c:spPr>
          </c:dPt>
          <c:dPt>
            <c:idx val="2"/>
            <c:invertIfNegative val="0"/>
            <c:bubble3D val="0"/>
            <c:spPr>
              <a:solidFill>
                <a:srgbClr val="4E9C9E"/>
              </a:solidFill>
              <a:effectLst/>
            </c:spPr>
          </c:dPt>
          <c:dPt>
            <c:idx val="3"/>
            <c:invertIfNegative val="0"/>
            <c:bubble3D val="0"/>
            <c:spPr>
              <a:solidFill>
                <a:srgbClr val="E8896F"/>
              </a:solidFill>
              <a:effectLst/>
            </c:spPr>
          </c:dPt>
          <c:dPt>
            <c:idx val="4"/>
            <c:invertIfNegative val="0"/>
            <c:bubble3D val="0"/>
            <c:spPr>
              <a:solidFill>
                <a:srgbClr val="E05A3A"/>
              </a:solidFill>
              <a:effectLst/>
            </c:spPr>
          </c:dPt>
          <c:cat>
            <c:multiLvlStrRef>
              <c:f>Sheet1!$A$2:$A$6</c:f>
              <c:multiLvlStrCache>
                <c:ptCount val="5"/>
                <c:lvl>
                  <c:pt idx="0">
                    <c:v>Sin supervisión</c:v>
                  </c:pt>
                  <c:pt idx="1">
                    <c:v>ρ = 1</c:v>
                  </c:pt>
                  <c:pt idx="2">
                    <c:v>ρ = 0,8</c:v>
                  </c:pt>
                  <c:pt idx="3">
                    <c:v>ρ = 0,5</c:v>
                  </c:pt>
                  <c:pt idx="4">
                    <c:v>ρ = 0,2</c:v>
                  </c:pt>
                </c:lvl>
              </c:multiLvlStrCache>
            </c:multiLvlStrRef>
          </c:cat>
          <c:val>
            <c:numRef>
              <c:f>Sheet1!$B$2:$B$6</c:f>
              <c:numCache>
                <c:formatCode>General</c:formatCode>
                <c:ptCount val="5"/>
                <c:pt idx="0">
                  <c:v>18.1</c:v>
                </c:pt>
                <c:pt idx="1">
                  <c:v>6.2</c:v>
                </c:pt>
                <c:pt idx="2">
                  <c:v>8.6</c:v>
                </c:pt>
                <c:pt idx="3">
                  <c:v>12.1</c:v>
                </c:pt>
                <c:pt idx="4">
                  <c:v>15.7</c:v>
                </c:pt>
              </c:numCache>
            </c:numRef>
          </c:val>
        </c:ser>
        <c:dLbls>
          <c:numFmt formatCode="0.0" sourceLinked="0"/>
          <c:txPr>
            <a:bodyPr/>
            <a:lstStyle/>
            <a:p>
              <a:pPr>
                <a:defRPr b="1" i="0" strike="noStrike" sz="1300" u="none">
                  <a:solidFill>
                    <a:srgbClr val="1B26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5E8"/>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E2A3B"/>
                </a:solidFill>
                <a:latin typeface="+mn-lt"/>
              </a:defRPr>
            </a:pPr>
            <a:r>
              <a:rPr sz="1400" b="1" i="0" u="none" strike="noStrike">
                <a:solidFill>
                  <a:srgbClr val="0E2A3B"/>
                </a:solidFill>
                <a:latin typeface="+mn-lt"/>
              </a:rPr>
              <a:t>Diferencia entre el grupo 0 y el grupo 1</a:t>
            </a:r>
          </a:p>
        </c:rich>
      </c:tx>
      <c:layout/>
      <c:overlay val="0"/>
    </c:title>
    <c:autoTitleDeleted val="0"/>
    <c:plotArea>
      <c:layout/>
      <c:barChart>
        <c:barDir val="col"/>
        <c:grouping val="clustered"/>
        <c:varyColors val="0"/>
        <c:ser>
          <c:idx val="0"/>
          <c:order val="0"/>
          <c:tx>
            <c:strRef>
              <c:f>Sheet1!$B$1</c:f>
              <c:strCache>
                <c:ptCount val="1"/>
                <c:pt idx="0">
                  <c:v>Un umbral para todos</c:v>
                </c:pt>
              </c:strCache>
            </c:strRef>
          </c:tx>
          <c:spPr>
            <a:solidFill>
              <a:srgbClr val="C9D6DB"/>
            </a:solidFill>
            <a:effectLst/>
          </c:spPr>
          <c:invertIfNegative val="0"/>
          <c:dLbls>
            <c:numFmt formatCode="0.000" sourceLinked="0"/>
            <c:txPr>
              <a:bodyPr/>
              <a:lstStyle/>
              <a:p>
                <a:pPr>
                  <a:defRPr b="1" i="0" strike="noStrike" sz="1200" u="none">
                    <a:solidFill>
                      <a:srgbClr val="1B2630"/>
                    </a:solidFill>
                    <a:latin typeface="+mn-lt"/>
                  </a:defRPr>
                </a:pPr>
              </a:p>
            </c:txPr>
            <c:showLegendKey val="0"/>
            <c:showVal val="1"/>
            <c:showCatName val="0"/>
            <c:showSerName val="0"/>
            <c:showPercent val="0"/>
            <c:showBubbleSize val="0"/>
            <c:showLeaderLines val="0"/>
          </c:dLbls>
          <c:cat>
            <c:multiLvlStrRef>
              <c:f>Sheet1!$A$2:$A$4</c:f>
              <c:multiLvlStrCache>
                <c:ptCount val="3"/>
                <c:lvl>
                  <c:pt idx="0">
                    <c:v>Paridad demográfica</c:v>
                  </c:pt>
                  <c:pt idx="1">
                    <c:v>Igualdad de errores (Δ EO)</c:v>
                  </c:pt>
                  <c:pt idx="2">
                    <c:v>Acierto de alarmas (Δ PPV)</c:v>
                  </c:pt>
                </c:lvl>
              </c:multiLvlStrCache>
            </c:multiLvlStrRef>
          </c:cat>
          <c:val>
            <c:numRef>
              <c:f>Sheet1!$B$2:$B$4</c:f>
              <c:numCache>
                <c:formatCode>General</c:formatCode>
                <c:ptCount val="3"/>
                <c:pt idx="0">
                  <c:v>0.13</c:v>
                </c:pt>
                <c:pt idx="1">
                  <c:v>0.058</c:v>
                </c:pt>
                <c:pt idx="2">
                  <c:v>0.093</c:v>
                </c:pt>
              </c:numCache>
            </c:numRef>
          </c:val>
        </c:ser>
        <c:ser>
          <c:idx val="1"/>
          <c:order val="1"/>
          <c:tx>
            <c:strRef>
              <c:f>Sheet1!$C$1</c:f>
              <c:strCache>
                <c:ptCount val="1"/>
                <c:pt idx="0">
                  <c:v>Un umbral por grupo</c:v>
                </c:pt>
              </c:strCache>
            </c:strRef>
          </c:tx>
          <c:spPr>
            <a:solidFill>
              <a:srgbClr val="127C80"/>
            </a:solidFill>
            <a:effectLst/>
          </c:spPr>
          <c:invertIfNegative val="0"/>
          <c:dLbls>
            <c:numFmt formatCode="0.000" sourceLinked="0"/>
            <c:txPr>
              <a:bodyPr/>
              <a:lstStyle/>
              <a:p>
                <a:pPr>
                  <a:defRPr b="1" i="0" strike="noStrike" sz="1200" u="none">
                    <a:solidFill>
                      <a:srgbClr val="1B2630"/>
                    </a:solidFill>
                    <a:latin typeface="+mn-lt"/>
                  </a:defRPr>
                </a:pPr>
              </a:p>
            </c:txPr>
            <c:showLegendKey val="0"/>
            <c:showVal val="1"/>
            <c:showCatName val="0"/>
            <c:showSerName val="0"/>
            <c:showPercent val="0"/>
            <c:showBubbleSize val="0"/>
            <c:showLeaderLines val="0"/>
          </c:dLbls>
          <c:cat>
            <c:multiLvlStrRef>
              <c:f>Sheet1!$A$2:$A$4</c:f>
              <c:multiLvlStrCache>
                <c:ptCount val="3"/>
                <c:lvl>
                  <c:pt idx="0">
                    <c:v>Paridad demográfica</c:v>
                  </c:pt>
                  <c:pt idx="1">
                    <c:v>Igualdad de errores (Δ EO)</c:v>
                  </c:pt>
                  <c:pt idx="2">
                    <c:v>Acierto de alarmas (Δ PPV)</c:v>
                  </c:pt>
                </c:lvl>
              </c:multiLvlStrCache>
            </c:multiLvlStrRef>
          </c:cat>
          <c:val>
            <c:numRef>
              <c:f>Sheet1!$C$2:$C$4</c:f>
              <c:numCache>
                <c:formatCode>General</c:formatCode>
                <c:ptCount val="3"/>
                <c:pt idx="0">
                  <c:v>0.102</c:v>
                </c:pt>
                <c:pt idx="1">
                  <c:v>0.03</c:v>
                </c:pt>
                <c:pt idx="2">
                  <c:v>0.108</c:v>
                </c:pt>
              </c:numCache>
            </c:numRef>
          </c:val>
        </c:ser>
        <c:dLbls>
          <c:numFmt formatCode="0.000" sourceLinked="0"/>
          <c:txPr>
            <a:bodyPr/>
            <a:lstStyle/>
            <a:p>
              <a:pPr>
                <a:defRPr b="1" i="0" strike="noStrike" sz="1200" u="none">
                  <a:solidFill>
                    <a:srgbClr val="1B26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B6B7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5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B6B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26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un paper corto que analiza críticamente el uso de LLM en salud. Partimos de un artículo de opinión de Bélisle-Pipon (2024) y lo convertimos en una arquitectura técnica de tres capas, que además implementamos y medimos en una demo en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datos para dimensionar el problema. Los LLM aprueban exámenes médicos, pero en 2.400 casos reales diagnosticaron peor que los médicos. Incluso en tareas acotadas, como resumir consultas, alucinan. Y el error humano se amplifica: cuando la IA sugiere mal, la exactitud de radiólogos inexpertos cae de 79,7 % a 19,8 %. Eso es sesgo de automatización.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artículo base propone dejar de hablar de alucinaciones. Alucinar sugiere un error de percepción que se puede corregir. Bullshit, en el sentido de Frankfurt, es producir texto plausible sin importar si es verdad. Si el error es estructural, no basta un mejor modelo: hay que contenerlo con un sistema. Nuestro aporte es especificar ese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reemplaza el uso del LLM como oráculo. La capa 1 garantiza que la confianza del modelo signifique algo. La capa 2 contrasta cada afirmación con evidencia curada y muestra esa evidencia como explicación. La capa 3 decide cuándo debe intervenir un profesional y audita sesgos entre grupos. Toda salida termina entregada con su evidencia o escalada.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ecuación uno es la entropía cruzada con la que se preentrena el modelo. Tiene dos términos: H, que mide cuán impredecible es el lenguaje y no depende del modelo, y KL, que mide cuánto se aleja el modelo del texto. Entrenar solo reduce KL: enseña a imitar. Por eso la confianza debe calibrarse antes de usarse para decidir. El gráfico muestra el error de calibración, la brecha entre la confianza declarada y el acierto real: baja de 0,096 a 0,013 con temperature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 dos descompone la respuesta en afirmaciones y las contrasta con una base curada, como en RAG. La ecuación dos exige dos condiciones: que la afirmación trate el mismo tema que la evidencia y que diga lo mismo. A la izquierda está el ejemplo: la afirmación falsa de 250 miligramos se parece casi igual a la evidencia de 25 miligramos, así que la regla de solo similitud la deja pasar. El gráfico de la derecha resume la demo: de las cinco afirmaciones falsas, con solo similitud llegan las cinco al paciente; cuando además se exige el verificador, solo llega una, la que cambia primera línea por segunda línea. Esa que se escapa es la razón de la capa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explicabilidad tiene límites. Los pesos de atención no son una explicación fiel. Los valores de Shapley sí son exactos: reparten la predicción entre las variables y suman exactamente la diferencia con el promedio. Pero describen al modelo, no a la medicina. En el gráfico, cada barra dice cuántos puntos sube o baja una variable el riesgo de este paciente frente al promedio. Lo que más lo empuja es su zona de residencia, que no es clínica: la explicación delata un proxy. Por eso, lo que ve el clínico como explicación es la evidencia citada.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supervisión se formaliza como una decisión de costos. Entregar cuesta la probabilidad de error por el costo del error; escalar cuesta la revisión más los errores que el revisor no detecta. Al comparar ambos costos sale la ecuación tres. Con un revisor atento y una revisión que cuesta un cuarto de un error, se escala todo lo que tenga menos de 75 % de confianza. Si el revisor solo detecta la mitad de los errores, el umbral cae a 50 % y revisar deja de compensar: la supervisión es nominal.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muestra el porcentaje de pacientes a los que les llega un error. La barra gris es el sistema sin revisión humana. Las demás aplican la ecuación tres con revisores cada vez menos atentos. En la demo, aplicada a 8.000 pacientes de prueba, se escala un 35 % de los casos y el error que llega al paciente baja de 18,1 % a 5,3 %. El umbral óptimo encontrado por búsqueda, 0,77, coincide con el teórico, 0,75, salvo ruido de muestreo. Pero si el revisor se vuelve menos atento, el error sube hasta casi el nivel sin supervisión. Por eso el Reglamento europeo exige gestionar el sesgo de automatización.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qué son los grupos: pacientes separados por un atributo sensible, como el estrato socioeconómico o el grupo étnico. En la demo son simplemente el grupo cero y el grupo uno. El modelo nunca ve a qué grupo pertenece cada paciente, pero usa la zona de residencia, que está correlacionada con el grupo: es un proxy, como el gasto médico en el caso de Obermeyer. El gráfico mide tres brechas entre los grupos: si se marca como alto riesgo a la misma proporción, si el modelo se equivoca igual con ambos, que es la ecuación cuatro, y si sus alarmas aciertan igual. Las barras grises usan un mismo umbral para todos; las verdes, un umbral por grupo que obliga a igualar los errores. La brecha de errores baja a la mitad, pero la de acierto de las alarmas sube. Con tasas base distintas no se pueden igualar todas: elegir la métrica es una decisión de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límites que discute el paper. Verificar un LLM con otro no agrega verdad, porque comparten el mismo objetivo. Las explicaciones pueden aumentar la confianza incluso cuando la IA se equivoca. Poner un humano no basta: en un ensayo, el acceso a GPT-4 no mejoró el diagnóstico de los médicos. Y la equidad no es un solo número: hay métricas incompatibles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está organizada en siete partes que siguen el orden del paper. La parte cero crea los datos: 20 000 pacientes sintéticos y un modelo de riesgo. Los actos uno a cuatro implementan cada capa y la miden con la métrica del paper: calibración, verificación, explicación con Shapley, supervisión humana y equidad. La parte cinco reúne todo en un panel equivalente a la Tabla 1. El sistema produce dos tipos de salida: afirmaciones de texto, que se usan en el acto dos, y puntajes de riesgo, que se usan en los demás. Cada acto tiene una descripción, su objetivo, el resultado y un mensaje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conclusión para el negocio: el valor de estos sistemas no es reemplazar el diagnóstico, sino reducir la carga documental con un riesgo que se puede medir y rastrear. Para eso hay que calibrar, verificar con evidencia y supervisar con métricas. La ecuación tres permite traducir esa decisión a costos: la revisión humana es el precio de la responsabilidad.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1. Leer la pregunta y las cuatro opciones, y dar unos segundos para responder. La respuesta correcta es la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B. «Alucinación» sugiere una percepción fallida y, por tanto, corregible. Bullshit, en el sentido de Frankfurt, es indiferencia hacia la verdad: el modelo no intenta informar ni engañar, solo producir texto verosímil. Por eso no se corrige con un mejor modelo, sino que se contiene con un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2. Leer la pregunta y las cuatro opciones, y dar unos segundos para responder. La respuesta correcta es la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C. La entropía H mide cuán impredecible es el lenguaje y no depende del modelo. Entrenar solo reduce la KL, es decir, acerca el modelo al texto. Ningún término compara lo afirmado con los hechos: una falsedad frecuente es «correcta» para el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3. Leer la pregunta y las cuatro opciones, y dar unos segundos para responder. La respuesta correcta es la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A. Un modelo calibrado que declara 80 % de confianza acierta el 80 % de las veces. En la demo, temperature scaling bajó el ECE de 0,096 a 0,013. Sin calibración, el umbral de escalado de la capa 3 no tendría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4. Leer la pregunta y las cuatro opciones, y dar unos segundos para responder. La respuesta correcta es la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D. La similitud mide si dos frases hablan del mismo tema, no si dicen lo mismo. Por eso la ecuación (2) exige además la implicación lógica (NLI). En la demo, con el verificador las afirmaciones falsas que pasan bajan de 5 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5. Leer la pregunta y las cuatro opciones, y dar unos segundos para responder. La respuesta correcta es la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B. Según la ecuación (3), se escala si π &lt; 1 − 0,25 / 1 = 0,75. Por debajo de 75 % de confianza, el riesgo de error (más de 25 %) cuesta más que la revisión. Si el revisor solo detecta la mitad de los errores (ρ = 0,5), el umbral cae a 50 % y revisar deja de compensar.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6. Leer la pregunta y las cuatro opciones, y dar unos segundos para responder. La respuesta correcta es la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A. Es el sesgo de automatización. En la demo, el error pasa de 6,2 % con ρ = 1 a 15,7 % con ρ = 0,2, cerca del 18,1 % sin supervisión. En mamografía, la exactitud de radiólogos inexpertos cayó a 19,8 % con sugerencias erróneas de la IA (Dratsch et al.,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7. Leer la pregunta y las cuatro opciones, y dar unos segundos para responder. La respuesta correcta es la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correcta: C. Omitir el atributo sensible no basta: el modelo lo recupera a través de un proxy, como el gasto médico en Obermeyer et al. (2019). Además, corregir una brecha mueve otra: la igualdad de errores mejora a la mitad, pero empeora el acierto de las alarmas.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Estas son las referencias principales; la lista completa de 28 fuentes está en el paper. Quedamos atentos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Título</a:t>
            </a:r>
            <a:endParaRPr lang="en-US" sz="4400" dirty="0"/>
          </a:p>
        </p:txBody>
      </p:sp>
      <p:sp>
        <p:nvSpPr>
          <p:cNvPr id="3" name="Text 0"/>
          <p:cNvSpPr/>
          <p:nvPr>
            <p:ph idx="101" type="body" hasCustomPrompt="1"/>
          </p:nvPr>
        </p:nvSpPr>
        <p:spPr>
          <a:xfrm>
            <a:off x="731520" y="3291840"/>
            <a:ext cx="676656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r>
              <a:rPr lang="en-US" sz="2000" dirty="0">
                <a:solidFill>
                  <a:schemeClr val="accent3"/>
                </a:solidFill>
              </a:rPr>
              <a:t>Subtítulo</a:t>
            </a:r>
            <a:endParaRPr lang="en-US" sz="2000" dirty="0"/>
          </a:p>
        </p:txBody>
      </p:sp>
      <p:sp>
        <p:nvSpPr>
          <p:cNvPr id="4" name="Text 0"/>
          <p:cNvSpPr/>
          <p:nvPr>
            <p:ph idx="102" type="body" hasCustomPrompt="1"/>
          </p:nvPr>
        </p:nvSpPr>
        <p:spPr>
          <a:xfrm>
            <a:off x="731520" y="4800600"/>
            <a:ext cx="6766560" cy="1188720"/>
          </a:xfrm>
          <a:prstGeom prst="rect">
            <a:avLst/>
          </a:prstGeom>
          <a:noFill/>
          <a:ln/>
        </p:spPr>
        <p:txBody>
          <a:bodyPr wrap="square" rtlCol="0"/>
          <a:lstStyle>
            <a:lvl1pPr indent="0" marL="0">
              <a:spcAft>
                <a:spcPts val="400"/>
              </a:spcAft>
              <a:buNone/>
              <a:defRPr lang="en-US" sz="1400" dirty="0">
                <a:solidFill>
                  <a:schemeClr val="bg1"/>
                </a:solidFill>
              </a:defRPr>
            </a:lvl1pPr>
          </a:lstStyle>
          <a:p>
            <a:pPr indent="0" marL="0">
              <a:spcAft>
                <a:spcPts val="400"/>
              </a:spcAft>
              <a:buNone/>
            </a:pPr>
            <a:r>
              <a:rPr lang="en-US" sz="1400" dirty="0">
                <a:solidFill>
                  <a:schemeClr val="bg1"/>
                </a:solidFill>
              </a:rPr>
              <a:t>Créditos</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r>
              <a:rPr lang="en-US" sz="3000" b="1" dirty="0">
                <a:solidFill>
                  <a:schemeClr val="tx2"/>
                </a:solidFill>
                <a:latin typeface="Cambria" pitchFamily="34" charset="0"/>
                <a:ea typeface="Cambria" pitchFamily="34" charset="-122"/>
                <a:cs typeface="Cambria" pitchFamily="34" charset="-120"/>
              </a:rPr>
              <a:t>Título</a:t>
            </a:r>
            <a:endParaRPr lang="en-US" sz="3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73736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r>
              <a:rPr lang="en-US" sz="3200" b="1" dirty="0">
                <a:solidFill>
                  <a:schemeClr val="bg1"/>
                </a:solidFill>
                <a:latin typeface="Cambria" pitchFamily="34" charset="0"/>
                <a:ea typeface="Cambria" pitchFamily="34" charset="-122"/>
                <a:cs typeface="Cambria" pitchFamily="34" charset="-120"/>
              </a:rPr>
              <a:t>Título</a:t>
            </a: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 la «alucinación» al </a:t>
            </a:r>
            <a:pPr algn="l" indent="0" marL="0">
              <a:buNone/>
            </a:pPr>
            <a:r>
              <a:rPr lang="en-US" sz="4400" b="1" i="1" dirty="0">
                <a:solidFill>
                  <a:schemeClr val="bg1"/>
                </a:solidFill>
                <a:latin typeface="Cambria" pitchFamily="34" charset="0"/>
                <a:ea typeface="Cambria" pitchFamily="34" charset="-122"/>
                <a:cs typeface="Cambria" pitchFamily="34" charset="-120"/>
              </a:rPr>
              <a:t>bullshit</a:t>
            </a:r>
            <a:endParaRPr lang="en-US" sz="4400" dirty="0"/>
          </a:p>
        </p:txBody>
      </p:sp>
      <p:sp>
        <p:nvSpPr>
          <p:cNvPr id="3" name="Text 0"/>
          <p:cNvSpPr/>
          <p:nvPr>
            <p:ph idx="101" type="body" hasCustomPrompt="1"/>
          </p:nvPr>
        </p:nvSpPr>
        <p:spPr>
          <a:xfrm>
            <a:off x="731520" y="3291840"/>
            <a:ext cx="6766560" cy="914400"/>
          </a:xfrm>
          <a:prstGeom prst="rect">
            <a:avLst/>
          </a:prstGeom>
          <a:noFill/>
          <a:ln/>
        </p:spPr>
        <p:txBody>
          <a:bodyPr wrap="square" lIns="0" tIns="0" rIns="0" bIns="0" rtlCol="0" anchor="t"/>
          <a:lstStyle/>
          <a:p>
            <a:pPr indent="0" marL="0">
              <a:buNone/>
            </a:pPr>
            <a:r>
              <a:rPr lang="en-US" sz="2000" dirty="0">
                <a:solidFill>
                  <a:schemeClr val="accent3"/>
                </a:solidFill>
              </a:rPr>
              <a:t>Supervisión humana explícita, explicabilidad y control de sesgos para LLM en salud</a:t>
            </a:r>
            <a:endParaRPr lang="en-US" sz="2000" dirty="0"/>
          </a:p>
        </p:txBody>
      </p:sp>
      <p:sp>
        <p:nvSpPr>
          <p:cNvPr id="4" name="Text 0"/>
          <p:cNvSpPr/>
          <p:nvPr>
            <p:ph idx="102" type="body" hasCustomPrompt="1"/>
          </p:nvPr>
        </p:nvSpPr>
        <p:spPr>
          <a:xfrm>
            <a:off x="731520" y="4800600"/>
            <a:ext cx="6766560" cy="118872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Mateo Rubio · Diego Polanco</a:t>
            </a:r>
            <a:endParaRPr lang="en-US" sz="1400" dirty="0"/>
          </a:p>
          <a:p>
            <a:pPr indent="0" marL="0">
              <a:spcAft>
                <a:spcPts val="400"/>
              </a:spcAft>
              <a:buNone/>
            </a:pPr>
            <a:r>
              <a:rPr lang="en-US" sz="1400" dirty="0">
                <a:solidFill>
                  <a:schemeClr val="bg1"/>
                </a:solidFill>
              </a:rPr>
              <a:t>Inteligencia Artificial · Docente: José Ordóñez Córdoba</a:t>
            </a:r>
            <a:endParaRPr lang="en-US" sz="1400" dirty="0"/>
          </a:p>
          <a:p>
            <a:pPr indent="0" marL="0">
              <a:spcAft>
                <a:spcPts val="400"/>
              </a:spcAft>
              <a:buNone/>
            </a:pPr>
            <a:r>
              <a:rPr lang="en-US" sz="1400" dirty="0">
                <a:solidFill>
                  <a:schemeClr val="bg1"/>
                </a:solidFill>
              </a:rPr>
              <a:t>Universidad ICESI · Octubre de 2026</a:t>
            </a:r>
            <a:endParaRPr lang="en-US" sz="1400" dirty="0"/>
          </a:p>
        </p:txBody>
      </p:sp>
      <p:sp>
        <p:nvSpPr>
          <p:cNvPr id="5" name="circulo-capa1"/>
          <p:cNvSpPr/>
          <p:nvPr/>
        </p:nvSpPr>
        <p:spPr>
          <a:xfrm>
            <a:off x="8229600" y="1417320"/>
            <a:ext cx="1097280" cy="1097280"/>
          </a:xfrm>
          <a:prstGeom prst="ellipse">
            <a:avLst/>
          </a:prstGeom>
          <a:solidFill>
            <a:srgbClr val="127C80"/>
          </a:solidFill>
          <a:ln/>
        </p:spPr>
      </p:sp>
      <p:pic>
        <p:nvPicPr>
          <p:cNvPr id="6" name="icono-capa1" descr="preencoded.png">    </p:cNvPr>
          <p:cNvPicPr>
            <a:picLocks noChangeAspect="1"/>
          </p:cNvPicPr>
          <p:nvPr/>
        </p:nvPicPr>
        <p:blipFill>
          <a:blip r:embed="rId1"/>
          <a:stretch>
            <a:fillRect/>
          </a:stretch>
        </p:blipFill>
        <p:spPr>
          <a:xfrm>
            <a:off x="8492947" y="1680667"/>
            <a:ext cx="570586" cy="570586"/>
          </a:xfrm>
          <a:prstGeom prst="rect">
            <a:avLst/>
          </a:prstGeom>
        </p:spPr>
      </p:pic>
      <p:sp>
        <p:nvSpPr>
          <p:cNvPr id="7" name="capa-texto-1"/>
          <p:cNvSpPr txBox="1"/>
          <p:nvPr/>
        </p:nvSpPr>
        <p:spPr>
          <a:xfrm>
            <a:off x="9509760" y="1600200"/>
            <a:ext cx="2377440" cy="822960"/>
          </a:xfrm>
          <a:prstGeom prst="rect">
            <a:avLst/>
          </a:prstGeom>
          <a:noFill/>
          <a:ln/>
        </p:spPr>
        <p:txBody>
          <a:bodyPr wrap="square" lIns="0" tIns="0" rIns="0" bIns="0" rtlCol="0" anchor="ctr"/>
          <a:lstStyle/>
          <a:p>
            <a:pPr indent="0" marL="0">
              <a:buNone/>
            </a:pPr>
            <a:r>
              <a:rPr lang="en-US" sz="1200" dirty="0">
                <a:solidFill>
                  <a:schemeClr val="accent3"/>
                </a:solidFill>
              </a:rPr>
              <a:t>Capa 1</a:t>
            </a:r>
            <a:endParaRPr lang="en-US" sz="1400" dirty="0"/>
          </a:p>
          <a:p>
            <a:pPr indent="0" marL="0">
              <a:buNone/>
            </a:pPr>
            <a:r>
              <a:rPr lang="en-US" sz="1600" b="1" dirty="0">
                <a:solidFill>
                  <a:schemeClr val="bg1"/>
                </a:solidFill>
              </a:rPr>
              <a:t>Generar con confianza calibrada</a:t>
            </a:r>
            <a:endParaRPr lang="en-US" sz="1400" dirty="0"/>
          </a:p>
        </p:txBody>
      </p:sp>
      <p:sp>
        <p:nvSpPr>
          <p:cNvPr id="8" name="circulo-capa2"/>
          <p:cNvSpPr/>
          <p:nvPr/>
        </p:nvSpPr>
        <p:spPr>
          <a:xfrm>
            <a:off x="8229600" y="2880360"/>
            <a:ext cx="1097280" cy="1097280"/>
          </a:xfrm>
          <a:prstGeom prst="ellipse">
            <a:avLst/>
          </a:prstGeom>
          <a:solidFill>
            <a:srgbClr val="5B6B76"/>
          </a:solidFill>
          <a:ln/>
        </p:spPr>
      </p:sp>
      <p:pic>
        <p:nvPicPr>
          <p:cNvPr id="9" name="icono-capa2" descr="preencoded.png">    </p:cNvPr>
          <p:cNvPicPr>
            <a:picLocks noChangeAspect="1"/>
          </p:cNvPicPr>
          <p:nvPr/>
        </p:nvPicPr>
        <p:blipFill>
          <a:blip r:embed="rId2"/>
          <a:stretch>
            <a:fillRect/>
          </a:stretch>
        </p:blipFill>
        <p:spPr>
          <a:xfrm>
            <a:off x="8492947" y="3143707"/>
            <a:ext cx="570586" cy="570586"/>
          </a:xfrm>
          <a:prstGeom prst="rect">
            <a:avLst/>
          </a:prstGeom>
        </p:spPr>
      </p:pic>
      <p:sp>
        <p:nvSpPr>
          <p:cNvPr id="10" name="capa-texto-2"/>
          <p:cNvSpPr txBox="1"/>
          <p:nvPr/>
        </p:nvSpPr>
        <p:spPr>
          <a:xfrm>
            <a:off x="9509760" y="3063240"/>
            <a:ext cx="2377440" cy="822960"/>
          </a:xfrm>
          <a:prstGeom prst="rect">
            <a:avLst/>
          </a:prstGeom>
          <a:noFill/>
          <a:ln/>
        </p:spPr>
        <p:txBody>
          <a:bodyPr wrap="square" lIns="0" tIns="0" rIns="0" bIns="0" rtlCol="0" anchor="ctr"/>
          <a:lstStyle/>
          <a:p>
            <a:pPr indent="0" marL="0">
              <a:buNone/>
            </a:pPr>
            <a:r>
              <a:rPr lang="en-US" sz="1200" dirty="0">
                <a:solidFill>
                  <a:schemeClr val="accent3"/>
                </a:solidFill>
              </a:rPr>
              <a:t>Capa 2</a:t>
            </a:r>
            <a:endParaRPr lang="en-US" sz="1400" dirty="0"/>
          </a:p>
          <a:p>
            <a:pPr indent="0" marL="0">
              <a:buNone/>
            </a:pPr>
            <a:r>
              <a:rPr lang="en-US" sz="1600" b="1" dirty="0">
                <a:solidFill>
                  <a:schemeClr val="bg1"/>
                </a:solidFill>
              </a:rPr>
              <a:t>Verificar con evidencia y explicar</a:t>
            </a:r>
            <a:endParaRPr lang="en-US" sz="1400" dirty="0"/>
          </a:p>
        </p:txBody>
      </p:sp>
      <p:sp>
        <p:nvSpPr>
          <p:cNvPr id="11" name="circulo-capa3"/>
          <p:cNvSpPr/>
          <p:nvPr/>
        </p:nvSpPr>
        <p:spPr>
          <a:xfrm>
            <a:off x="8229600" y="4343400"/>
            <a:ext cx="1097280" cy="1097280"/>
          </a:xfrm>
          <a:prstGeom prst="ellipse">
            <a:avLst/>
          </a:prstGeom>
          <a:solidFill>
            <a:srgbClr val="E05A3A"/>
          </a:solidFill>
          <a:ln/>
        </p:spPr>
      </p:sp>
      <p:pic>
        <p:nvPicPr>
          <p:cNvPr id="12" name="icono-capa3" descr="preencoded.png">    </p:cNvPr>
          <p:cNvPicPr>
            <a:picLocks noChangeAspect="1"/>
          </p:cNvPicPr>
          <p:nvPr/>
        </p:nvPicPr>
        <p:blipFill>
          <a:blip r:embed="rId3"/>
          <a:stretch>
            <a:fillRect/>
          </a:stretch>
        </p:blipFill>
        <p:spPr>
          <a:xfrm>
            <a:off x="8492947" y="4606747"/>
            <a:ext cx="570586" cy="570586"/>
          </a:xfrm>
          <a:prstGeom prst="rect">
            <a:avLst/>
          </a:prstGeom>
        </p:spPr>
      </p:pic>
      <p:sp>
        <p:nvSpPr>
          <p:cNvPr id="13" name="capa-texto-3"/>
          <p:cNvSpPr txBox="1"/>
          <p:nvPr/>
        </p:nvSpPr>
        <p:spPr>
          <a:xfrm>
            <a:off x="9509760" y="4526280"/>
            <a:ext cx="2377440" cy="822960"/>
          </a:xfrm>
          <a:prstGeom prst="rect">
            <a:avLst/>
          </a:prstGeom>
          <a:noFill/>
          <a:ln/>
        </p:spPr>
        <p:txBody>
          <a:bodyPr wrap="square" lIns="0" tIns="0" rIns="0" bIns="0" rtlCol="0" anchor="ctr"/>
          <a:lstStyle/>
          <a:p>
            <a:pPr indent="0" marL="0">
              <a:buNone/>
            </a:pPr>
            <a:r>
              <a:rPr lang="en-US" sz="1200" dirty="0">
                <a:solidFill>
                  <a:schemeClr val="accent3"/>
                </a:solidFill>
              </a:rPr>
              <a:t>Capa 3</a:t>
            </a:r>
            <a:endParaRPr lang="en-US" sz="1400" dirty="0"/>
          </a:p>
          <a:p>
            <a:pPr indent="0" marL="0">
              <a:buNone/>
            </a:pPr>
            <a:r>
              <a:rPr lang="en-US" sz="1600" b="1" dirty="0">
                <a:solidFill>
                  <a:schemeClr val="bg1"/>
                </a:solidFill>
              </a:rPr>
              <a:t>Supervisar y auditar sesgos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Los LLM ya llegan a la clínica, pero fallan donde importa</a:t>
            </a:r>
            <a:endParaRPr lang="en-US" sz="3000" dirty="0"/>
          </a:p>
        </p:txBody>
      </p:sp>
      <p:sp>
        <p:nvSpPr>
          <p:cNvPr id="3" name="tarjeta-dato-1"/>
          <p:cNvSpPr/>
          <p:nvPr/>
        </p:nvSpPr>
        <p:spPr>
          <a:xfrm>
            <a:off x="548640" y="1463040"/>
            <a:ext cx="3474720" cy="4023360"/>
          </a:xfrm>
          <a:prstGeom prst="roundRect">
            <a:avLst>
              <a:gd name="adj" fmla="val 3158"/>
            </a:avLst>
          </a:prstGeom>
          <a:solidFill>
            <a:schemeClr val="bg2"/>
          </a:solidFill>
          <a:ln/>
          <a:effectLst>
            <a:outerShdw sx="100000" sy="100000" kx="0" ky="0" algn="bl" rotWithShape="0" blurRad="101600" dist="25400" dir="5400000">
              <a:srgbClr val="0E2A3B">
                <a:alpha val="12000"/>
              </a:srgbClr>
            </a:outerShdw>
          </a:effectLst>
        </p:spPr>
      </p:sp>
      <p:sp>
        <p:nvSpPr>
          <p:cNvPr id="4" name="circulo-dato1"/>
          <p:cNvSpPr/>
          <p:nvPr/>
        </p:nvSpPr>
        <p:spPr>
          <a:xfrm>
            <a:off x="868680" y="1783080"/>
            <a:ext cx="777240" cy="777240"/>
          </a:xfrm>
          <a:prstGeom prst="ellipse">
            <a:avLst/>
          </a:prstGeom>
          <a:solidFill>
            <a:srgbClr val="127C80"/>
          </a:solidFill>
          <a:ln/>
        </p:spPr>
      </p:sp>
      <p:pic>
        <p:nvPicPr>
          <p:cNvPr id="5" name="icono-dato1" descr="preencoded.png">    </p:cNvPr>
          <p:cNvPicPr>
            <a:picLocks noChangeAspect="1"/>
          </p:cNvPicPr>
          <p:nvPr/>
        </p:nvPicPr>
        <p:blipFill>
          <a:blip r:embed="rId1"/>
          <a:stretch>
            <a:fillRect/>
          </a:stretch>
        </p:blipFill>
        <p:spPr>
          <a:xfrm>
            <a:off x="1055218" y="1969618"/>
            <a:ext cx="404165" cy="404165"/>
          </a:xfrm>
          <a:prstGeom prst="rect">
            <a:avLst/>
          </a:prstGeom>
        </p:spPr>
      </p:pic>
      <p:sp>
        <p:nvSpPr>
          <p:cNvPr id="6" name="Text 3"/>
          <p:cNvSpPr txBox="1"/>
          <p:nvPr/>
        </p:nvSpPr>
        <p:spPr>
          <a:xfrm>
            <a:off x="868680" y="2788920"/>
            <a:ext cx="2834640"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2.400</a:t>
            </a:r>
            <a:endParaRPr lang="en-US" sz="2800" dirty="0"/>
          </a:p>
        </p:txBody>
      </p:sp>
      <p:sp>
        <p:nvSpPr>
          <p:cNvPr id="7" name="Text 4"/>
          <p:cNvSpPr txBox="1"/>
          <p:nvPr/>
        </p:nvSpPr>
        <p:spPr>
          <a:xfrm>
            <a:off x="868680" y="3657600"/>
            <a:ext cx="2834640" cy="1097280"/>
          </a:xfrm>
          <a:prstGeom prst="rect">
            <a:avLst/>
          </a:prstGeom>
          <a:noFill/>
          <a:ln/>
        </p:spPr>
        <p:txBody>
          <a:bodyPr wrap="square" lIns="0" tIns="0" rIns="0" bIns="0" rtlCol="0" anchor="t"/>
          <a:lstStyle/>
          <a:p>
            <a:pPr indent="0" marL="0">
              <a:buNone/>
            </a:pPr>
            <a:r>
              <a:rPr lang="en-US" sz="1600" dirty="0">
                <a:solidFill>
                  <a:schemeClr val="tx1"/>
                </a:solidFill>
              </a:rPr>
              <a:t>casos reales: diagnosticaron peor que los médicos y no siguieron las guías</a:t>
            </a:r>
            <a:endParaRPr lang="en-US" sz="1600" dirty="0"/>
          </a:p>
        </p:txBody>
      </p:sp>
      <p:sp>
        <p:nvSpPr>
          <p:cNvPr id="8" name="Text 5"/>
          <p:cNvSpPr txBox="1"/>
          <p:nvPr/>
        </p:nvSpPr>
        <p:spPr>
          <a:xfrm>
            <a:off x="868680" y="4892040"/>
            <a:ext cx="2834640" cy="365760"/>
          </a:xfrm>
          <a:prstGeom prst="rect">
            <a:avLst/>
          </a:prstGeom>
          <a:noFill/>
          <a:ln/>
        </p:spPr>
        <p:txBody>
          <a:bodyPr wrap="square" lIns="0" tIns="0" rIns="0" bIns="0" rtlCol="0" anchor="t"/>
          <a:lstStyle/>
          <a:p>
            <a:pPr indent="0" marL="0">
              <a:buNone/>
            </a:pPr>
            <a:r>
              <a:rPr lang="en-US" sz="1100" i="1" dirty="0">
                <a:solidFill>
                  <a:schemeClr val="accent5"/>
                </a:solidFill>
              </a:rPr>
              <a:t>Hager et al., 2024 · Nature Medicine</a:t>
            </a:r>
            <a:endParaRPr lang="en-US" sz="1100" dirty="0"/>
          </a:p>
        </p:txBody>
      </p:sp>
      <p:sp>
        <p:nvSpPr>
          <p:cNvPr id="9" name="tarjeta-dato-2"/>
          <p:cNvSpPr/>
          <p:nvPr/>
        </p:nvSpPr>
        <p:spPr>
          <a:xfrm>
            <a:off x="4361688" y="1463040"/>
            <a:ext cx="3474720" cy="4023360"/>
          </a:xfrm>
          <a:prstGeom prst="roundRect">
            <a:avLst>
              <a:gd name="adj" fmla="val 3158"/>
            </a:avLst>
          </a:prstGeom>
          <a:solidFill>
            <a:schemeClr val="bg2"/>
          </a:solidFill>
          <a:ln/>
          <a:effectLst>
            <a:outerShdw sx="100000" sy="100000" kx="0" ky="0" algn="bl" rotWithShape="0" blurRad="101600" dist="25400" dir="5400000">
              <a:srgbClr val="0E2A3B">
                <a:alpha val="12000"/>
              </a:srgbClr>
            </a:outerShdw>
          </a:effectLst>
        </p:spPr>
      </p:sp>
      <p:sp>
        <p:nvSpPr>
          <p:cNvPr id="10" name="circulo-dato2"/>
          <p:cNvSpPr/>
          <p:nvPr/>
        </p:nvSpPr>
        <p:spPr>
          <a:xfrm>
            <a:off x="4681728" y="1783080"/>
            <a:ext cx="777240" cy="777240"/>
          </a:xfrm>
          <a:prstGeom prst="ellipse">
            <a:avLst/>
          </a:prstGeom>
          <a:solidFill>
            <a:srgbClr val="127C80"/>
          </a:solidFill>
          <a:ln/>
        </p:spPr>
      </p:sp>
      <p:pic>
        <p:nvPicPr>
          <p:cNvPr id="11" name="icono-dato2" descr="preencoded.png">    </p:cNvPr>
          <p:cNvPicPr>
            <a:picLocks noChangeAspect="1"/>
          </p:cNvPicPr>
          <p:nvPr/>
        </p:nvPicPr>
        <p:blipFill>
          <a:blip r:embed="rId2"/>
          <a:stretch>
            <a:fillRect/>
          </a:stretch>
        </p:blipFill>
        <p:spPr>
          <a:xfrm>
            <a:off x="4868266" y="1969618"/>
            <a:ext cx="404165" cy="404165"/>
          </a:xfrm>
          <a:prstGeom prst="rect">
            <a:avLst/>
          </a:prstGeom>
        </p:spPr>
      </p:pic>
      <p:sp>
        <p:nvSpPr>
          <p:cNvPr id="12" name="Text 8"/>
          <p:cNvSpPr txBox="1"/>
          <p:nvPr/>
        </p:nvSpPr>
        <p:spPr>
          <a:xfrm>
            <a:off x="4681728" y="2788920"/>
            <a:ext cx="2834640"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1,47 %</a:t>
            </a:r>
            <a:endParaRPr lang="en-US" sz="2800" dirty="0"/>
          </a:p>
        </p:txBody>
      </p:sp>
      <p:sp>
        <p:nvSpPr>
          <p:cNvPr id="13" name="Text 9"/>
          <p:cNvSpPr txBox="1"/>
          <p:nvPr/>
        </p:nvSpPr>
        <p:spPr>
          <a:xfrm>
            <a:off x="4681728" y="3657600"/>
            <a:ext cx="2834640" cy="1097280"/>
          </a:xfrm>
          <a:prstGeom prst="rect">
            <a:avLst/>
          </a:prstGeom>
          <a:noFill/>
          <a:ln/>
        </p:spPr>
        <p:txBody>
          <a:bodyPr wrap="square" lIns="0" tIns="0" rIns="0" bIns="0" rtlCol="0" anchor="t"/>
          <a:lstStyle/>
          <a:p>
            <a:pPr indent="0" marL="0">
              <a:buNone/>
            </a:pPr>
            <a:r>
              <a:rPr lang="en-US" sz="1600" dirty="0">
                <a:solidFill>
                  <a:schemeClr val="tx1"/>
                </a:solidFill>
              </a:rPr>
              <a:t>de oraciones alucinadas al resumir consultas clínicas</a:t>
            </a:r>
            <a:endParaRPr lang="en-US" sz="1600" dirty="0"/>
          </a:p>
        </p:txBody>
      </p:sp>
      <p:sp>
        <p:nvSpPr>
          <p:cNvPr id="14" name="Text 10"/>
          <p:cNvSpPr txBox="1"/>
          <p:nvPr/>
        </p:nvSpPr>
        <p:spPr>
          <a:xfrm>
            <a:off x="4681728" y="4892040"/>
            <a:ext cx="2834640" cy="365760"/>
          </a:xfrm>
          <a:prstGeom prst="rect">
            <a:avLst/>
          </a:prstGeom>
          <a:noFill/>
          <a:ln/>
        </p:spPr>
        <p:txBody>
          <a:bodyPr wrap="square" lIns="0" tIns="0" rIns="0" bIns="0" rtlCol="0" anchor="t"/>
          <a:lstStyle/>
          <a:p>
            <a:pPr indent="0" marL="0">
              <a:buNone/>
            </a:pPr>
            <a:r>
              <a:rPr lang="en-US" sz="1100" i="1" dirty="0">
                <a:solidFill>
                  <a:schemeClr val="accent5"/>
                </a:solidFill>
              </a:rPr>
              <a:t>Asgari et al., 2025 · npj Digital Medicine</a:t>
            </a:r>
            <a:endParaRPr lang="en-US" sz="1100" dirty="0"/>
          </a:p>
        </p:txBody>
      </p:sp>
      <p:sp>
        <p:nvSpPr>
          <p:cNvPr id="15" name="tarjeta-dato-3"/>
          <p:cNvSpPr/>
          <p:nvPr/>
        </p:nvSpPr>
        <p:spPr>
          <a:xfrm>
            <a:off x="8174736" y="1463040"/>
            <a:ext cx="3474720" cy="4023360"/>
          </a:xfrm>
          <a:prstGeom prst="roundRect">
            <a:avLst>
              <a:gd name="adj" fmla="val 3158"/>
            </a:avLst>
          </a:prstGeom>
          <a:solidFill>
            <a:schemeClr val="bg2"/>
          </a:solidFill>
          <a:ln/>
          <a:effectLst>
            <a:outerShdw sx="100000" sy="100000" kx="0" ky="0" algn="bl" rotWithShape="0" blurRad="101600" dist="25400" dir="5400000">
              <a:srgbClr val="0E2A3B">
                <a:alpha val="12000"/>
              </a:srgbClr>
            </a:outerShdw>
          </a:effectLst>
        </p:spPr>
      </p:sp>
      <p:sp>
        <p:nvSpPr>
          <p:cNvPr id="16" name="circulo-dato3"/>
          <p:cNvSpPr/>
          <p:nvPr/>
        </p:nvSpPr>
        <p:spPr>
          <a:xfrm>
            <a:off x="8494776" y="1783080"/>
            <a:ext cx="777240" cy="777240"/>
          </a:xfrm>
          <a:prstGeom prst="ellipse">
            <a:avLst/>
          </a:prstGeom>
          <a:solidFill>
            <a:srgbClr val="E05A3A"/>
          </a:solidFill>
          <a:ln/>
        </p:spPr>
      </p:sp>
      <p:pic>
        <p:nvPicPr>
          <p:cNvPr id="17" name="icono-dato3" descr="preencoded.png">    </p:cNvPr>
          <p:cNvPicPr>
            <a:picLocks noChangeAspect="1"/>
          </p:cNvPicPr>
          <p:nvPr/>
        </p:nvPicPr>
        <p:blipFill>
          <a:blip r:embed="rId3"/>
          <a:stretch>
            <a:fillRect/>
          </a:stretch>
        </p:blipFill>
        <p:spPr>
          <a:xfrm>
            <a:off x="8681314" y="1969618"/>
            <a:ext cx="404165" cy="404165"/>
          </a:xfrm>
          <a:prstGeom prst="rect">
            <a:avLst/>
          </a:prstGeom>
        </p:spPr>
      </p:pic>
      <p:sp>
        <p:nvSpPr>
          <p:cNvPr id="18" name="Text 13"/>
          <p:cNvSpPr txBox="1"/>
          <p:nvPr/>
        </p:nvSpPr>
        <p:spPr>
          <a:xfrm>
            <a:off x="8494776" y="2788920"/>
            <a:ext cx="2834640" cy="7315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79,7 % → 19,8 %</a:t>
            </a:r>
            <a:endParaRPr lang="en-US" sz="2800" dirty="0"/>
          </a:p>
        </p:txBody>
      </p:sp>
      <p:sp>
        <p:nvSpPr>
          <p:cNvPr id="19" name="Text 14"/>
          <p:cNvSpPr txBox="1"/>
          <p:nvPr/>
        </p:nvSpPr>
        <p:spPr>
          <a:xfrm>
            <a:off x="8494776" y="3657600"/>
            <a:ext cx="2834640" cy="1097280"/>
          </a:xfrm>
          <a:prstGeom prst="rect">
            <a:avLst/>
          </a:prstGeom>
          <a:noFill/>
          <a:ln/>
        </p:spPr>
        <p:txBody>
          <a:bodyPr wrap="square" lIns="0" tIns="0" rIns="0" bIns="0" rtlCol="0" anchor="t"/>
          <a:lstStyle/>
          <a:p>
            <a:pPr indent="0" marL="0">
              <a:buNone/>
            </a:pPr>
            <a:r>
              <a:rPr lang="en-US" sz="1600" dirty="0">
                <a:solidFill>
                  <a:schemeClr val="tx1"/>
                </a:solidFill>
              </a:rPr>
              <a:t>exactitud de radiólogos cuando la IA sugiere mal</a:t>
            </a:r>
            <a:endParaRPr lang="en-US" sz="1600" dirty="0"/>
          </a:p>
        </p:txBody>
      </p:sp>
      <p:sp>
        <p:nvSpPr>
          <p:cNvPr id="20" name="Text 15"/>
          <p:cNvSpPr txBox="1"/>
          <p:nvPr/>
        </p:nvSpPr>
        <p:spPr>
          <a:xfrm>
            <a:off x="8494776" y="4892040"/>
            <a:ext cx="2834640" cy="365760"/>
          </a:xfrm>
          <a:prstGeom prst="rect">
            <a:avLst/>
          </a:prstGeom>
          <a:noFill/>
          <a:ln/>
        </p:spPr>
        <p:txBody>
          <a:bodyPr wrap="square" lIns="0" tIns="0" rIns="0" bIns="0" rtlCol="0" anchor="t"/>
          <a:lstStyle/>
          <a:p>
            <a:pPr indent="0" marL="0">
              <a:buNone/>
            </a:pPr>
            <a:r>
              <a:rPr lang="en-US" sz="1100" i="1" dirty="0">
                <a:solidFill>
                  <a:schemeClr val="accent5"/>
                </a:solidFill>
              </a:rPr>
              <a:t>Dratsch et al., 2023 · Radiology</a:t>
            </a:r>
            <a:endParaRPr lang="en-US" sz="1100" dirty="0"/>
          </a:p>
        </p:txBody>
      </p:sp>
      <p:sp>
        <p:nvSpPr>
          <p:cNvPr id="21" name="Text 16"/>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600" i="1" dirty="0">
                <a:solidFill>
                  <a:schemeClr val="tx2"/>
                </a:solidFill>
              </a:rPr>
              <a:t>Cuando el error suena convincente, el riesgo deja de ser técnico y pasa a ser clínico.</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¿Alucinación o bullshit?</a:t>
            </a:r>
            <a:endParaRPr lang="en-US" sz="3000" dirty="0"/>
          </a:p>
        </p:txBody>
      </p:sp>
      <p:sp>
        <p:nvSpPr>
          <p:cNvPr id="3" name="tarjeta-alucinacion"/>
          <p:cNvSpPr/>
          <p:nvPr/>
        </p:nvSpPr>
        <p:spPr>
          <a:xfrm>
            <a:off x="548640" y="1417320"/>
            <a:ext cx="5029200" cy="3566160"/>
          </a:xfrm>
          <a:prstGeom prst="roundRect">
            <a:avLst>
              <a:gd name="adj" fmla="val 3077"/>
            </a:avLst>
          </a:prstGeom>
          <a:solidFill>
            <a:schemeClr val="bg2"/>
          </a:solidFill>
          <a:ln/>
          <a:effectLst>
            <a:outerShdw sx="100000" sy="100000" kx="0" ky="0" algn="bl" rotWithShape="0" blurRad="101600" dist="25400" dir="5400000">
              <a:srgbClr val="0E2A3B">
                <a:alpha val="12000"/>
              </a:srgbClr>
            </a:outerShdw>
          </a:effectLst>
        </p:spPr>
      </p:sp>
      <p:sp>
        <p:nvSpPr>
          <p:cNvPr id="4" name="circulo-alucinacion"/>
          <p:cNvSpPr/>
          <p:nvPr/>
        </p:nvSpPr>
        <p:spPr>
          <a:xfrm>
            <a:off x="914400" y="1783080"/>
            <a:ext cx="822960" cy="822960"/>
          </a:xfrm>
          <a:prstGeom prst="ellipse">
            <a:avLst/>
          </a:prstGeom>
          <a:solidFill>
            <a:srgbClr val="5B6B76"/>
          </a:solidFill>
          <a:ln/>
        </p:spPr>
      </p:sp>
      <p:pic>
        <p:nvPicPr>
          <p:cNvPr id="5" name="icono-alucinacion" descr="preencoded.png">    </p:cNvPr>
          <p:cNvPicPr>
            <a:picLocks noChangeAspect="1"/>
          </p:cNvPicPr>
          <p:nvPr/>
        </p:nvPicPr>
        <p:blipFill>
          <a:blip r:embed="rId1"/>
          <a:stretch>
            <a:fillRect/>
          </a:stretch>
        </p:blipFill>
        <p:spPr>
          <a:xfrm>
            <a:off x="1111910" y="1980590"/>
            <a:ext cx="427939" cy="427939"/>
          </a:xfrm>
          <a:prstGeom prst="rect">
            <a:avLst/>
          </a:prstGeom>
        </p:spPr>
      </p:pic>
      <p:sp>
        <p:nvSpPr>
          <p:cNvPr id="6" name="Text 3"/>
          <p:cNvSpPr txBox="1"/>
          <p:nvPr/>
        </p:nvSpPr>
        <p:spPr>
          <a:xfrm>
            <a:off x="1920240" y="1874520"/>
            <a:ext cx="3474720" cy="64008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«Alucinación»</a:t>
            </a:r>
            <a:endParaRPr lang="en-US" sz="2600" dirty="0"/>
          </a:p>
        </p:txBody>
      </p:sp>
      <p:sp>
        <p:nvSpPr>
          <p:cNvPr id="7" name="Text 4"/>
          <p:cNvSpPr txBox="1"/>
          <p:nvPr/>
        </p:nvSpPr>
        <p:spPr>
          <a:xfrm>
            <a:off x="914400" y="2880360"/>
            <a:ext cx="4297680" cy="18288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Sugiere una percepción fallida</a:t>
            </a:r>
            <a:endParaRPr lang="en-US" sz="1700" dirty="0"/>
          </a:p>
          <a:p>
            <a:pPr marL="342900" indent="-342900">
              <a:spcAft>
                <a:spcPts val="1000"/>
              </a:spcAft>
              <a:buSzPct val="100000"/>
              <a:buChar char="•"/>
            </a:pPr>
            <a:r>
              <a:rPr lang="en-US" sz="1700" dirty="0">
                <a:solidFill>
                  <a:schemeClr val="tx1"/>
                </a:solidFill>
              </a:rPr>
              <a:t>Implica que se corrige con más datos o un mejor modelo</a:t>
            </a:r>
            <a:endParaRPr lang="en-US" sz="1700" dirty="0"/>
          </a:p>
        </p:txBody>
      </p:sp>
      <p:sp>
        <p:nvSpPr>
          <p:cNvPr id="8" name="flecha"/>
          <p:cNvSpPr/>
          <p:nvPr/>
        </p:nvSpPr>
        <p:spPr>
          <a:xfrm>
            <a:off x="5733288" y="2926080"/>
            <a:ext cx="731520" cy="548640"/>
          </a:xfrm>
          <a:prstGeom prst="rightArrow">
            <a:avLst/>
          </a:prstGeom>
          <a:solidFill>
            <a:schemeClr val="accent2"/>
          </a:solidFill>
          <a:ln/>
        </p:spPr>
      </p:sp>
      <p:sp>
        <p:nvSpPr>
          <p:cNvPr id="9" name="tarjeta-bullshit"/>
          <p:cNvSpPr/>
          <p:nvPr/>
        </p:nvSpPr>
        <p:spPr>
          <a:xfrm>
            <a:off x="6611112" y="1417320"/>
            <a:ext cx="5029200" cy="3566160"/>
          </a:xfrm>
          <a:prstGeom prst="roundRect">
            <a:avLst>
              <a:gd name="adj" fmla="val 3077"/>
            </a:avLst>
          </a:prstGeom>
          <a:solidFill>
            <a:schemeClr val="tx2"/>
          </a:solidFill>
          <a:ln/>
          <a:effectLst>
            <a:outerShdw sx="100000" sy="100000" kx="0" ky="0" algn="bl" rotWithShape="0" blurRad="101600" dist="25400" dir="5400000">
              <a:srgbClr val="0E2A3B">
                <a:alpha val="12000"/>
              </a:srgbClr>
            </a:outerShdw>
          </a:effectLst>
        </p:spPr>
      </p:sp>
      <p:sp>
        <p:nvSpPr>
          <p:cNvPr id="10" name="circulo-bullshit"/>
          <p:cNvSpPr/>
          <p:nvPr/>
        </p:nvSpPr>
        <p:spPr>
          <a:xfrm>
            <a:off x="6976872" y="1783080"/>
            <a:ext cx="822960" cy="822960"/>
          </a:xfrm>
          <a:prstGeom prst="ellipse">
            <a:avLst/>
          </a:prstGeom>
          <a:solidFill>
            <a:srgbClr val="E05A3A"/>
          </a:solidFill>
          <a:ln/>
        </p:spPr>
      </p:sp>
      <p:pic>
        <p:nvPicPr>
          <p:cNvPr id="11" name="icono-bullshit" descr="preencoded.png">    </p:cNvPr>
          <p:cNvPicPr>
            <a:picLocks noChangeAspect="1"/>
          </p:cNvPicPr>
          <p:nvPr/>
        </p:nvPicPr>
        <p:blipFill>
          <a:blip r:embed="rId2"/>
          <a:stretch>
            <a:fillRect/>
          </a:stretch>
        </p:blipFill>
        <p:spPr>
          <a:xfrm>
            <a:off x="7174382" y="1980590"/>
            <a:ext cx="427939" cy="427939"/>
          </a:xfrm>
          <a:prstGeom prst="rect">
            <a:avLst/>
          </a:prstGeom>
        </p:spPr>
      </p:pic>
      <p:sp>
        <p:nvSpPr>
          <p:cNvPr id="12" name="Text 8"/>
          <p:cNvSpPr txBox="1"/>
          <p:nvPr/>
        </p:nvSpPr>
        <p:spPr>
          <a:xfrm>
            <a:off x="7982712" y="1874520"/>
            <a:ext cx="3474720" cy="640080"/>
          </a:xfrm>
          <a:prstGeom prst="rect">
            <a:avLst/>
          </a:prstGeom>
          <a:noFill/>
          <a:ln/>
        </p:spPr>
        <p:txBody>
          <a:bodyPr wrap="square" lIns="0" tIns="0" rIns="0" bIns="0" rtlCol="0" anchor="ctr"/>
          <a:lstStyle/>
          <a:p>
            <a:pPr indent="0" marL="0">
              <a:buNone/>
            </a:pPr>
            <a:r>
              <a:rPr lang="en-US" sz="2600" b="1" i="1" dirty="0">
                <a:solidFill>
                  <a:schemeClr val="bg1"/>
                </a:solidFill>
                <a:latin typeface="Cambria" pitchFamily="34" charset="0"/>
                <a:ea typeface="Cambria" pitchFamily="34" charset="-122"/>
                <a:cs typeface="Cambria" pitchFamily="34" charset="-120"/>
              </a:rPr>
              <a:t>Bullshit</a:t>
            </a:r>
            <a:endParaRPr lang="en-US" sz="2600" dirty="0"/>
          </a:p>
        </p:txBody>
      </p:sp>
      <p:sp>
        <p:nvSpPr>
          <p:cNvPr id="13" name="Text 9"/>
          <p:cNvSpPr txBox="1"/>
          <p:nvPr/>
        </p:nvSpPr>
        <p:spPr>
          <a:xfrm>
            <a:off x="6976872" y="2880360"/>
            <a:ext cx="4297680" cy="18288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Texto plausible, indiferente a la verdad (Frankfurt, 2005)</a:t>
            </a:r>
            <a:endParaRPr lang="en-US" sz="1700" dirty="0"/>
          </a:p>
          <a:p>
            <a:pPr marL="342900" indent="-342900">
              <a:spcAft>
                <a:spcPts val="1000"/>
              </a:spcAft>
              <a:buSzPct val="100000"/>
              <a:buChar char="•"/>
            </a:pPr>
            <a:r>
              <a:rPr lang="en-US" sz="1700" dirty="0">
                <a:solidFill>
                  <a:schemeClr val="bg1"/>
                </a:solidFill>
              </a:rPr>
              <a:t>Es estructural: hay que contenerlo con un sistema (Hicks et al., 2024)</a:t>
            </a:r>
            <a:endParaRPr lang="en-US" sz="1700" dirty="0"/>
          </a:p>
        </p:txBody>
      </p:sp>
      <p:sp>
        <p:nvSpPr>
          <p:cNvPr id="14" name="Text 10"/>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700" dirty="0">
                <a:solidFill>
                  <a:schemeClr val="accent5"/>
                </a:solidFill>
              </a:rPr>
              <a:t>Tesis del artículo base (Bélisle-Pipon, 2024): </a:t>
            </a:r>
            <a:pPr indent="0" marL="0">
              <a:buNone/>
            </a:pPr>
            <a:r>
              <a:rPr lang="en-US" sz="1700" b="1" dirty="0">
                <a:solidFill>
                  <a:schemeClr val="tx2"/>
                </a:solidFill>
              </a:rPr>
              <a:t>la mitigación no vive en el modelo, sino en la arquitectura que lo rodea.</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Nuestra propuesta: una arquitectura de tres capas</a:t>
            </a:r>
            <a:endParaRPr lang="en-US" sz="3000" dirty="0"/>
          </a:p>
        </p:txBody>
      </p:sp>
      <p:sp>
        <p:nvSpPr>
          <p:cNvPr id="3" name="caja-llm"/>
          <p:cNvSpPr/>
          <p:nvPr/>
        </p:nvSpPr>
        <p:spPr>
          <a:xfrm>
            <a:off x="868680" y="2148840"/>
            <a:ext cx="1554480" cy="1645920"/>
          </a:xfrm>
          <a:prstGeom prst="roundRect">
            <a:avLst>
              <a:gd name="adj" fmla="val 7059"/>
            </a:avLst>
          </a:prstGeom>
          <a:solidFill>
            <a:schemeClr val="tx2"/>
          </a:solidFill>
          <a:ln/>
          <a:effectLst>
            <a:outerShdw sx="100000" sy="100000" kx="0" ky="0" algn="bl" rotWithShape="0" blurRad="101600" dist="25400" dir="5400000">
              <a:srgbClr val="0E2A3B">
                <a:alpha val="12000"/>
              </a:srgbClr>
            </a:outerShdw>
          </a:effectLst>
        </p:spPr>
      </p:sp>
      <p:sp>
        <p:nvSpPr>
          <p:cNvPr id="4" name="circulo-llm"/>
          <p:cNvSpPr/>
          <p:nvPr/>
        </p:nvSpPr>
        <p:spPr>
          <a:xfrm>
            <a:off x="1280160" y="2331720"/>
            <a:ext cx="731520" cy="731520"/>
          </a:xfrm>
          <a:prstGeom prst="ellipse">
            <a:avLst/>
          </a:prstGeom>
          <a:solidFill>
            <a:srgbClr val="127C80"/>
          </a:solidFill>
          <a:ln/>
        </p:spPr>
      </p:sp>
      <p:pic>
        <p:nvPicPr>
          <p:cNvPr id="5" name="icono-llm" descr="preencoded.png">    </p:cNvPr>
          <p:cNvPicPr>
            <a:picLocks noChangeAspect="1"/>
          </p:cNvPicPr>
          <p:nvPr/>
        </p:nvPicPr>
        <p:blipFill>
          <a:blip r:embed="rId1"/>
          <a:stretch>
            <a:fillRect/>
          </a:stretch>
        </p:blipFill>
        <p:spPr>
          <a:xfrm>
            <a:off x="1455725" y="2507285"/>
            <a:ext cx="380390" cy="380390"/>
          </a:xfrm>
          <a:prstGeom prst="rect">
            <a:avLst/>
          </a:prstGeom>
        </p:spPr>
      </p:pic>
      <p:sp>
        <p:nvSpPr>
          <p:cNvPr id="6" name="Text 3"/>
          <p:cNvSpPr txBox="1"/>
          <p:nvPr/>
        </p:nvSpPr>
        <p:spPr>
          <a:xfrm>
            <a:off x="960120" y="3154680"/>
            <a:ext cx="1371600" cy="502920"/>
          </a:xfrm>
          <a:prstGeom prst="rect">
            <a:avLst/>
          </a:prstGeom>
          <a:noFill/>
          <a:ln/>
        </p:spPr>
        <p:txBody>
          <a:bodyPr wrap="square" lIns="0" tIns="0" rIns="0" bIns="0" rtlCol="0" anchor="t"/>
          <a:lstStyle/>
          <a:p>
            <a:pPr algn="ctr" indent="0" marL="0">
              <a:buNone/>
            </a:pPr>
            <a:r>
              <a:rPr lang="en-US" sz="1500" b="1" dirty="0">
                <a:solidFill>
                  <a:schemeClr val="bg1"/>
                </a:solidFill>
              </a:rPr>
              <a:t>Salida del LLM</a:t>
            </a:r>
            <a:endParaRPr lang="en-US" sz="1500" dirty="0"/>
          </a:p>
        </p:txBody>
      </p:sp>
      <p:sp>
        <p:nvSpPr>
          <p:cNvPr id="7" name="flecha-1"/>
          <p:cNvSpPr/>
          <p:nvPr/>
        </p:nvSpPr>
        <p:spPr>
          <a:xfrm>
            <a:off x="2468880" y="2788920"/>
            <a:ext cx="347472" cy="365760"/>
          </a:xfrm>
          <a:prstGeom prst="rightArrow">
            <a:avLst/>
          </a:prstGeom>
          <a:solidFill>
            <a:schemeClr val="accent6"/>
          </a:solidFill>
          <a:ln/>
        </p:spPr>
      </p:sp>
      <p:sp>
        <p:nvSpPr>
          <p:cNvPr id="8" name="capa-1"/>
          <p:cNvSpPr/>
          <p:nvPr/>
        </p:nvSpPr>
        <p:spPr>
          <a:xfrm>
            <a:off x="2926080" y="1463040"/>
            <a:ext cx="2651760" cy="3017520"/>
          </a:xfrm>
          <a:prstGeom prst="roundRect">
            <a:avLst>
              <a:gd name="adj" fmla="val 4138"/>
            </a:avLst>
          </a:prstGeom>
          <a:solidFill>
            <a:schemeClr val="bg2"/>
          </a:solidFill>
          <a:ln/>
          <a:effectLst>
            <a:outerShdw sx="100000" sy="100000" kx="0" ky="0" algn="bl" rotWithShape="0" blurRad="101600" dist="25400" dir="5400000">
              <a:srgbClr val="0E2A3B">
                <a:alpha val="12000"/>
              </a:srgbClr>
            </a:outerShdw>
          </a:effectLst>
        </p:spPr>
      </p:sp>
      <p:sp>
        <p:nvSpPr>
          <p:cNvPr id="9" name="circulo-arq1"/>
          <p:cNvSpPr/>
          <p:nvPr/>
        </p:nvSpPr>
        <p:spPr>
          <a:xfrm>
            <a:off x="3200400" y="1737360"/>
            <a:ext cx="777240" cy="777240"/>
          </a:xfrm>
          <a:prstGeom prst="ellipse">
            <a:avLst/>
          </a:prstGeom>
          <a:solidFill>
            <a:srgbClr val="127C80"/>
          </a:solidFill>
          <a:ln/>
        </p:spPr>
      </p:sp>
      <p:pic>
        <p:nvPicPr>
          <p:cNvPr id="10" name="icono-arq1" descr="preencoded.png">    </p:cNvPr>
          <p:cNvPicPr>
            <a:picLocks noChangeAspect="1"/>
          </p:cNvPicPr>
          <p:nvPr/>
        </p:nvPicPr>
        <p:blipFill>
          <a:blip r:embed="rId2"/>
          <a:stretch>
            <a:fillRect/>
          </a:stretch>
        </p:blipFill>
        <p:spPr>
          <a:xfrm>
            <a:off x="3386938" y="1923898"/>
            <a:ext cx="404165" cy="404165"/>
          </a:xfrm>
          <a:prstGeom prst="rect">
            <a:avLst/>
          </a:prstGeom>
        </p:spPr>
      </p:pic>
      <p:sp>
        <p:nvSpPr>
          <p:cNvPr id="11" name="Text 7"/>
          <p:cNvSpPr txBox="1"/>
          <p:nvPr/>
        </p:nvSpPr>
        <p:spPr>
          <a:xfrm>
            <a:off x="4114800" y="1920240"/>
            <a:ext cx="1280160" cy="365760"/>
          </a:xfrm>
          <a:prstGeom prst="rect">
            <a:avLst/>
          </a:prstGeom>
          <a:noFill/>
          <a:ln/>
        </p:spPr>
        <p:txBody>
          <a:bodyPr wrap="square" lIns="0" tIns="0" rIns="0" bIns="0" rtlCol="0" anchor="ctr"/>
          <a:lstStyle/>
          <a:p>
            <a:pPr indent="0" marL="0">
              <a:buNone/>
            </a:pPr>
            <a:r>
              <a:rPr lang="en-US" sz="1300" b="1" dirty="0">
                <a:solidFill>
                  <a:schemeClr val="accent5"/>
                </a:solidFill>
              </a:rPr>
              <a:t>Capa 1</a:t>
            </a:r>
            <a:endParaRPr lang="en-US" sz="1300" dirty="0"/>
          </a:p>
        </p:txBody>
      </p:sp>
      <p:sp>
        <p:nvSpPr>
          <p:cNvPr id="12" name="Text 8"/>
          <p:cNvSpPr txBox="1"/>
          <p:nvPr/>
        </p:nvSpPr>
        <p:spPr>
          <a:xfrm>
            <a:off x="3200400" y="2743200"/>
            <a:ext cx="219456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Generación calibrada</a:t>
            </a:r>
            <a:endParaRPr lang="en-US" sz="1900" dirty="0"/>
          </a:p>
        </p:txBody>
      </p:sp>
      <p:sp>
        <p:nvSpPr>
          <p:cNvPr id="13" name="Text 9"/>
          <p:cNvSpPr txBox="1"/>
          <p:nvPr/>
        </p:nvSpPr>
        <p:spPr>
          <a:xfrm>
            <a:off x="3200400" y="3520440"/>
            <a:ext cx="2194560" cy="777240"/>
          </a:xfrm>
          <a:prstGeom prst="rect">
            <a:avLst/>
          </a:prstGeom>
          <a:noFill/>
          <a:ln/>
        </p:spPr>
        <p:txBody>
          <a:bodyPr wrap="square" lIns="0" tIns="0" rIns="0" bIns="0" rtlCol="0" anchor="t"/>
          <a:lstStyle/>
          <a:p>
            <a:pPr indent="0" marL="0">
              <a:buNone/>
            </a:pPr>
            <a:r>
              <a:rPr lang="en-US" sz="1500" dirty="0">
                <a:solidFill>
                  <a:schemeClr val="tx1"/>
                </a:solidFill>
              </a:rPr>
              <a:t>La confianza significa lo que dice</a:t>
            </a:r>
            <a:endParaRPr lang="en-US" sz="1500" dirty="0"/>
          </a:p>
        </p:txBody>
      </p:sp>
      <p:sp>
        <p:nvSpPr>
          <p:cNvPr id="14" name="flecha-2"/>
          <p:cNvSpPr/>
          <p:nvPr/>
        </p:nvSpPr>
        <p:spPr>
          <a:xfrm>
            <a:off x="5440680" y="2788920"/>
            <a:ext cx="347472" cy="365760"/>
          </a:xfrm>
          <a:prstGeom prst="rightArrow">
            <a:avLst/>
          </a:prstGeom>
          <a:solidFill>
            <a:schemeClr val="accent6"/>
          </a:solidFill>
          <a:ln/>
        </p:spPr>
      </p:sp>
      <p:sp>
        <p:nvSpPr>
          <p:cNvPr id="15" name="capa-2"/>
          <p:cNvSpPr/>
          <p:nvPr/>
        </p:nvSpPr>
        <p:spPr>
          <a:xfrm>
            <a:off x="5897880" y="1463040"/>
            <a:ext cx="2651760" cy="3017520"/>
          </a:xfrm>
          <a:prstGeom prst="roundRect">
            <a:avLst>
              <a:gd name="adj" fmla="val 4138"/>
            </a:avLst>
          </a:prstGeom>
          <a:solidFill>
            <a:schemeClr val="bg2"/>
          </a:solidFill>
          <a:ln/>
          <a:effectLst>
            <a:outerShdw sx="100000" sy="100000" kx="0" ky="0" algn="bl" rotWithShape="0" blurRad="101600" dist="25400" dir="5400000">
              <a:srgbClr val="0E2A3B">
                <a:alpha val="12000"/>
              </a:srgbClr>
            </a:outerShdw>
          </a:effectLst>
        </p:spPr>
      </p:sp>
      <p:sp>
        <p:nvSpPr>
          <p:cNvPr id="16" name="circulo-arq2"/>
          <p:cNvSpPr/>
          <p:nvPr/>
        </p:nvSpPr>
        <p:spPr>
          <a:xfrm>
            <a:off x="6172200" y="1737360"/>
            <a:ext cx="777240" cy="777240"/>
          </a:xfrm>
          <a:prstGeom prst="ellipse">
            <a:avLst/>
          </a:prstGeom>
          <a:solidFill>
            <a:srgbClr val="5B6B76"/>
          </a:solidFill>
          <a:ln/>
        </p:spPr>
      </p:sp>
      <p:pic>
        <p:nvPicPr>
          <p:cNvPr id="17" name="icono-arq2" descr="preencoded.png">    </p:cNvPr>
          <p:cNvPicPr>
            <a:picLocks noChangeAspect="1"/>
          </p:cNvPicPr>
          <p:nvPr/>
        </p:nvPicPr>
        <p:blipFill>
          <a:blip r:embed="rId3"/>
          <a:stretch>
            <a:fillRect/>
          </a:stretch>
        </p:blipFill>
        <p:spPr>
          <a:xfrm>
            <a:off x="6358738" y="1923898"/>
            <a:ext cx="404165" cy="404165"/>
          </a:xfrm>
          <a:prstGeom prst="rect">
            <a:avLst/>
          </a:prstGeom>
        </p:spPr>
      </p:pic>
      <p:sp>
        <p:nvSpPr>
          <p:cNvPr id="18" name="Text 13"/>
          <p:cNvSpPr txBox="1"/>
          <p:nvPr/>
        </p:nvSpPr>
        <p:spPr>
          <a:xfrm>
            <a:off x="7086600" y="1920240"/>
            <a:ext cx="1280160" cy="365760"/>
          </a:xfrm>
          <a:prstGeom prst="rect">
            <a:avLst/>
          </a:prstGeom>
          <a:noFill/>
          <a:ln/>
        </p:spPr>
        <p:txBody>
          <a:bodyPr wrap="square" lIns="0" tIns="0" rIns="0" bIns="0" rtlCol="0" anchor="ctr"/>
          <a:lstStyle/>
          <a:p>
            <a:pPr indent="0" marL="0">
              <a:buNone/>
            </a:pPr>
            <a:r>
              <a:rPr lang="en-US" sz="1300" b="1" dirty="0">
                <a:solidFill>
                  <a:schemeClr val="accent5"/>
                </a:solidFill>
              </a:rPr>
              <a:t>Capa 2</a:t>
            </a:r>
            <a:endParaRPr lang="en-US" sz="1300" dirty="0"/>
          </a:p>
        </p:txBody>
      </p:sp>
      <p:sp>
        <p:nvSpPr>
          <p:cNvPr id="19" name="Text 14"/>
          <p:cNvSpPr txBox="1"/>
          <p:nvPr/>
        </p:nvSpPr>
        <p:spPr>
          <a:xfrm>
            <a:off x="6172200" y="2743200"/>
            <a:ext cx="219456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Verificación y explicación</a:t>
            </a:r>
            <a:endParaRPr lang="en-US" sz="1900" dirty="0"/>
          </a:p>
        </p:txBody>
      </p:sp>
      <p:sp>
        <p:nvSpPr>
          <p:cNvPr id="20" name="Text 15"/>
          <p:cNvSpPr txBox="1"/>
          <p:nvPr/>
        </p:nvSpPr>
        <p:spPr>
          <a:xfrm>
            <a:off x="6172200" y="3520440"/>
            <a:ext cx="2194560" cy="777240"/>
          </a:xfrm>
          <a:prstGeom prst="rect">
            <a:avLst/>
          </a:prstGeom>
          <a:noFill/>
          <a:ln/>
        </p:spPr>
        <p:txBody>
          <a:bodyPr wrap="square" lIns="0" tIns="0" rIns="0" bIns="0" rtlCol="0" anchor="t"/>
          <a:lstStyle/>
          <a:p>
            <a:pPr indent="0" marL="0">
              <a:buNone/>
            </a:pPr>
            <a:r>
              <a:rPr lang="en-US" sz="1500" dirty="0">
                <a:solidFill>
                  <a:schemeClr val="tx1"/>
                </a:solidFill>
              </a:rPr>
              <a:t>Cada afirmación, contra evidencia curada</a:t>
            </a:r>
            <a:endParaRPr lang="en-US" sz="1500" dirty="0"/>
          </a:p>
        </p:txBody>
      </p:sp>
      <p:sp>
        <p:nvSpPr>
          <p:cNvPr id="21" name="flecha-3"/>
          <p:cNvSpPr/>
          <p:nvPr/>
        </p:nvSpPr>
        <p:spPr>
          <a:xfrm>
            <a:off x="8412480" y="2788920"/>
            <a:ext cx="347472" cy="365760"/>
          </a:xfrm>
          <a:prstGeom prst="rightArrow">
            <a:avLst/>
          </a:prstGeom>
          <a:solidFill>
            <a:schemeClr val="accent6"/>
          </a:solidFill>
          <a:ln/>
        </p:spPr>
      </p:sp>
      <p:sp>
        <p:nvSpPr>
          <p:cNvPr id="22" name="capa-3"/>
          <p:cNvSpPr/>
          <p:nvPr/>
        </p:nvSpPr>
        <p:spPr>
          <a:xfrm>
            <a:off x="8869680" y="1463040"/>
            <a:ext cx="2651760" cy="3017520"/>
          </a:xfrm>
          <a:prstGeom prst="roundRect">
            <a:avLst>
              <a:gd name="adj" fmla="val 4138"/>
            </a:avLst>
          </a:prstGeom>
          <a:solidFill>
            <a:schemeClr val="bg2"/>
          </a:solidFill>
          <a:ln/>
          <a:effectLst>
            <a:outerShdw sx="100000" sy="100000" kx="0" ky="0" algn="bl" rotWithShape="0" blurRad="101600" dist="25400" dir="5400000">
              <a:srgbClr val="0E2A3B">
                <a:alpha val="12000"/>
              </a:srgbClr>
            </a:outerShdw>
          </a:effectLst>
        </p:spPr>
      </p:sp>
      <p:sp>
        <p:nvSpPr>
          <p:cNvPr id="23" name="circulo-arq3"/>
          <p:cNvSpPr/>
          <p:nvPr/>
        </p:nvSpPr>
        <p:spPr>
          <a:xfrm>
            <a:off x="9144000" y="1737360"/>
            <a:ext cx="777240" cy="777240"/>
          </a:xfrm>
          <a:prstGeom prst="ellipse">
            <a:avLst/>
          </a:prstGeom>
          <a:solidFill>
            <a:srgbClr val="E05A3A"/>
          </a:solidFill>
          <a:ln/>
        </p:spPr>
      </p:sp>
      <p:pic>
        <p:nvPicPr>
          <p:cNvPr id="24" name="icono-arq3" descr="preencoded.png">    </p:cNvPr>
          <p:cNvPicPr>
            <a:picLocks noChangeAspect="1"/>
          </p:cNvPicPr>
          <p:nvPr/>
        </p:nvPicPr>
        <p:blipFill>
          <a:blip r:embed="rId4"/>
          <a:stretch>
            <a:fillRect/>
          </a:stretch>
        </p:blipFill>
        <p:spPr>
          <a:xfrm>
            <a:off x="9330538" y="1923898"/>
            <a:ext cx="404165" cy="404165"/>
          </a:xfrm>
          <a:prstGeom prst="rect">
            <a:avLst/>
          </a:prstGeom>
        </p:spPr>
      </p:pic>
      <p:sp>
        <p:nvSpPr>
          <p:cNvPr id="25" name="Text 19"/>
          <p:cNvSpPr txBox="1"/>
          <p:nvPr/>
        </p:nvSpPr>
        <p:spPr>
          <a:xfrm>
            <a:off x="10058400" y="1920240"/>
            <a:ext cx="1280160" cy="365760"/>
          </a:xfrm>
          <a:prstGeom prst="rect">
            <a:avLst/>
          </a:prstGeom>
          <a:noFill/>
          <a:ln/>
        </p:spPr>
        <p:txBody>
          <a:bodyPr wrap="square" lIns="0" tIns="0" rIns="0" bIns="0" rtlCol="0" anchor="ctr"/>
          <a:lstStyle/>
          <a:p>
            <a:pPr indent="0" marL="0">
              <a:buNone/>
            </a:pPr>
            <a:r>
              <a:rPr lang="en-US" sz="1300" b="1" dirty="0">
                <a:solidFill>
                  <a:schemeClr val="accent5"/>
                </a:solidFill>
              </a:rPr>
              <a:t>Capa 3</a:t>
            </a:r>
            <a:endParaRPr lang="en-US" sz="1300" dirty="0"/>
          </a:p>
        </p:txBody>
      </p:sp>
      <p:sp>
        <p:nvSpPr>
          <p:cNvPr id="26" name="Text 20"/>
          <p:cNvSpPr txBox="1"/>
          <p:nvPr/>
        </p:nvSpPr>
        <p:spPr>
          <a:xfrm>
            <a:off x="9144000" y="2743200"/>
            <a:ext cx="2194560" cy="73152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Supervisión y sesgos</a:t>
            </a:r>
            <a:endParaRPr lang="en-US" sz="1900" dirty="0"/>
          </a:p>
        </p:txBody>
      </p:sp>
      <p:sp>
        <p:nvSpPr>
          <p:cNvPr id="27" name="Text 21"/>
          <p:cNvSpPr txBox="1"/>
          <p:nvPr/>
        </p:nvSpPr>
        <p:spPr>
          <a:xfrm>
            <a:off x="9144000" y="3520440"/>
            <a:ext cx="2194560" cy="777240"/>
          </a:xfrm>
          <a:prstGeom prst="rect">
            <a:avLst/>
          </a:prstGeom>
          <a:noFill/>
          <a:ln/>
        </p:spPr>
        <p:txBody>
          <a:bodyPr wrap="square" lIns="0" tIns="0" rIns="0" bIns="0" rtlCol="0" anchor="t"/>
          <a:lstStyle/>
          <a:p>
            <a:pPr indent="0" marL="0">
              <a:buNone/>
            </a:pPr>
            <a:r>
              <a:rPr lang="en-US" sz="1500" dirty="0">
                <a:solidFill>
                  <a:schemeClr val="tx1"/>
                </a:solidFill>
              </a:rPr>
              <a:t>Un humano decide cuando hace falta</a:t>
            </a:r>
            <a:endParaRPr lang="en-US" sz="1500" dirty="0"/>
          </a:p>
        </p:txBody>
      </p:sp>
      <p:sp>
        <p:nvSpPr>
          <p:cNvPr id="28" name="Text 22"/>
          <p:cNvSpPr txBox="1"/>
          <p:nvPr/>
        </p:nvSpPr>
        <p:spPr>
          <a:xfrm>
            <a:off x="548640" y="5029200"/>
            <a:ext cx="4937760" cy="640080"/>
          </a:xfrm>
          <a:prstGeom prst="rect">
            <a:avLst/>
          </a:prstGeom>
          <a:noFill/>
          <a:ln/>
        </p:spPr>
        <p:txBody>
          <a:bodyPr wrap="square" lIns="0" tIns="0" rIns="0" bIns="0" rtlCol="0" anchor="ctr"/>
          <a:lstStyle/>
          <a:p>
            <a:pPr algn="r" indent="0" marL="0">
              <a:buNone/>
            </a:pPr>
            <a:r>
              <a:rPr lang="en-US" sz="1700" dirty="0">
                <a:solidFill>
                  <a:schemeClr val="tx2"/>
                </a:solidFill>
              </a:rPr>
              <a:t>Cada salida termina en una de dos acciones:</a:t>
            </a:r>
            <a:endParaRPr lang="en-US" sz="1700" dirty="0"/>
          </a:p>
        </p:txBody>
      </p:sp>
      <p:sp>
        <p:nvSpPr>
          <p:cNvPr id="29" name="accion-entregar"/>
          <p:cNvSpPr/>
          <p:nvPr/>
        </p:nvSpPr>
        <p:spPr>
          <a:xfrm>
            <a:off x="5897880" y="5029200"/>
            <a:ext cx="2651760" cy="640080"/>
          </a:xfrm>
          <a:prstGeom prst="roundRect">
            <a:avLst>
              <a:gd name="adj" fmla="val 50000"/>
            </a:avLst>
          </a:prstGeom>
          <a:solidFill>
            <a:schemeClr val="accent1"/>
          </a:solidFill>
          <a:ln/>
        </p:spPr>
      </p:sp>
      <p:sp>
        <p:nvSpPr>
          <p:cNvPr id="30" name="Text 24"/>
          <p:cNvSpPr txBox="1"/>
          <p:nvPr/>
        </p:nvSpPr>
        <p:spPr>
          <a:xfrm>
            <a:off x="5897880" y="5029200"/>
            <a:ext cx="2651760" cy="640080"/>
          </a:xfrm>
          <a:prstGeom prst="rect">
            <a:avLst/>
          </a:prstGeom>
          <a:noFill/>
          <a:ln/>
        </p:spPr>
        <p:txBody>
          <a:bodyPr wrap="square" lIns="0" tIns="0" rIns="0" bIns="0" rtlCol="0" anchor="ctr"/>
          <a:lstStyle/>
          <a:p>
            <a:pPr algn="ctr" indent="0" marL="0">
              <a:buNone/>
            </a:pPr>
            <a:r>
              <a:rPr lang="en-US" sz="1600" b="1" dirty="0">
                <a:solidFill>
                  <a:schemeClr val="bg1"/>
                </a:solidFill>
              </a:rPr>
              <a:t>Entregar con su evidencia</a:t>
            </a:r>
            <a:endParaRPr lang="en-US" sz="1600" dirty="0"/>
          </a:p>
        </p:txBody>
      </p:sp>
      <p:sp>
        <p:nvSpPr>
          <p:cNvPr id="31" name="accion-escalar"/>
          <p:cNvSpPr/>
          <p:nvPr/>
        </p:nvSpPr>
        <p:spPr>
          <a:xfrm>
            <a:off x="8869680" y="5029200"/>
            <a:ext cx="2651760" cy="640080"/>
          </a:xfrm>
          <a:prstGeom prst="roundRect">
            <a:avLst>
              <a:gd name="adj" fmla="val 50000"/>
            </a:avLst>
          </a:prstGeom>
          <a:solidFill>
            <a:schemeClr val="accent2"/>
          </a:solidFill>
          <a:ln/>
        </p:spPr>
      </p:sp>
      <p:sp>
        <p:nvSpPr>
          <p:cNvPr id="32" name="Text 26"/>
          <p:cNvSpPr txBox="1"/>
          <p:nvPr/>
        </p:nvSpPr>
        <p:spPr>
          <a:xfrm>
            <a:off x="8869680" y="5029200"/>
            <a:ext cx="2651760" cy="640080"/>
          </a:xfrm>
          <a:prstGeom prst="rect">
            <a:avLst/>
          </a:prstGeom>
          <a:noFill/>
          <a:ln/>
        </p:spPr>
        <p:txBody>
          <a:bodyPr wrap="square" lIns="0" tIns="0" rIns="0" bIns="0" rtlCol="0" anchor="ctr"/>
          <a:lstStyle/>
          <a:p>
            <a:pPr algn="ctr" indent="0" marL="0">
              <a:buNone/>
            </a:pPr>
            <a:r>
              <a:rPr lang="en-US" sz="1600" b="1" dirty="0">
                <a:solidFill>
                  <a:schemeClr val="bg1"/>
                </a:solidFill>
              </a:rPr>
              <a:t>Escalar a un profesional</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Capa 1 · Entrenar enseña a imitar, no a decir la verdad</a:t>
            </a:r>
            <a:endParaRPr lang="en-US" sz="3000" dirty="0"/>
          </a:p>
        </p:txBody>
      </p:sp>
      <p:pic>
        <p:nvPicPr>
          <p:cNvPr id="3" name="ecuacion-1" descr="C:\Users\Usuario\AppData\Local\Temp\claude\C--Users-Usuario-Desktop-Universidad-S9-IA-paper\75d33420-834f-4c2d-b351-e3434f508e7f\scratchpad\deck\eq1.png">    </p:cNvPr>
          <p:cNvPicPr>
            <a:picLocks noChangeAspect="1"/>
          </p:cNvPicPr>
          <p:nvPr/>
        </p:nvPicPr>
        <p:blipFill>
          <a:blip r:embed="rId1"/>
          <a:stretch>
            <a:fillRect/>
          </a:stretch>
        </p:blipFill>
        <p:spPr>
          <a:xfrm>
            <a:off x="822960" y="1508760"/>
            <a:ext cx="5486400" cy="468883"/>
          </a:xfrm>
          <a:prstGeom prst="rect">
            <a:avLst/>
          </a:prstGeom>
        </p:spPr>
      </p:pic>
      <p:sp>
        <p:nvSpPr>
          <p:cNvPr id="4" name="Text 1"/>
          <p:cNvSpPr txBox="1"/>
          <p:nvPr/>
        </p:nvSpPr>
        <p:spPr>
          <a:xfrm>
            <a:off x="548640" y="2103120"/>
            <a:ext cx="6035040" cy="320040"/>
          </a:xfrm>
          <a:prstGeom prst="rect">
            <a:avLst/>
          </a:prstGeom>
          <a:noFill/>
          <a:ln/>
        </p:spPr>
        <p:txBody>
          <a:bodyPr wrap="square" lIns="0" tIns="0" rIns="0" bIns="0" rtlCol="0" anchor="t"/>
          <a:lstStyle/>
          <a:p>
            <a:pPr algn="ctr" indent="0" marL="0">
              <a:buNone/>
            </a:pPr>
            <a:r>
              <a:rPr lang="en-US" sz="1200" i="1" dirty="0">
                <a:solidFill>
                  <a:schemeClr val="accent5"/>
                </a:solidFill>
              </a:rPr>
              <a:t>Ecuación (1) · entropía cruzada</a:t>
            </a:r>
            <a:endParaRPr lang="en-US" sz="1200" dirty="0"/>
          </a:p>
        </p:txBody>
      </p:sp>
      <p:sp>
        <p:nvSpPr>
          <p:cNvPr id="5" name="termino-H"/>
          <p:cNvSpPr/>
          <p:nvPr/>
        </p:nvSpPr>
        <p:spPr>
          <a:xfrm>
            <a:off x="548640" y="2606040"/>
            <a:ext cx="2926080" cy="1325880"/>
          </a:xfrm>
          <a:prstGeom prst="roundRect">
            <a:avLst>
              <a:gd name="adj" fmla="val 8276"/>
            </a:avLst>
          </a:prstGeom>
          <a:solidFill>
            <a:schemeClr val="bg2"/>
          </a:solidFill>
          <a:ln/>
          <a:effectLst>
            <a:outerShdw sx="100000" sy="100000" kx="0" ky="0" algn="bl" rotWithShape="0" blurRad="101600" dist="25400" dir="5400000">
              <a:srgbClr val="0E2A3B">
                <a:alpha val="12000"/>
              </a:srgbClr>
            </a:outerShdw>
          </a:effectLst>
        </p:spPr>
      </p:sp>
      <p:sp>
        <p:nvSpPr>
          <p:cNvPr id="6" name="Text 3"/>
          <p:cNvSpPr txBox="1"/>
          <p:nvPr/>
        </p:nvSpPr>
        <p:spPr>
          <a:xfrm>
            <a:off x="777240" y="2743200"/>
            <a:ext cx="2514600" cy="1280160"/>
          </a:xfrm>
          <a:prstGeom prst="rect">
            <a:avLst/>
          </a:prstGeom>
          <a:noFill/>
          <a:ln/>
        </p:spPr>
        <p:txBody>
          <a:bodyPr wrap="square" lIns="0" tIns="0" rIns="0" bIns="0" rtlCol="0" anchor="t"/>
          <a:lstStyle/>
          <a:p>
            <a:pPr indent="0" marL="0">
              <a:buNone/>
            </a:pPr>
            <a:r>
              <a:rPr lang="en-US" sz="1800" b="1" dirty="0">
                <a:solidFill>
                  <a:schemeClr val="tx2"/>
                </a:solidFill>
              </a:rPr>
              <a:t>H(p</a:t>
            </a:r>
            <a:pPr indent="0" marL="0">
              <a:buNone/>
            </a:pPr>
            <a:r>
              <a:rPr lang="en-US" sz="1800" b="1" baseline="-40000" dirty="0">
                <a:solidFill>
                  <a:schemeClr val="tx2"/>
                </a:solidFill>
              </a:rPr>
              <a:t>data</a:t>
            </a:r>
            <a:pPr indent="0" marL="0">
              <a:buNone/>
            </a:pPr>
            <a:r>
              <a:rPr lang="en-US" sz="1800" b="1" dirty="0">
                <a:solidFill>
                  <a:schemeClr val="tx2"/>
                </a:solidFill>
              </a:rPr>
              <a:t>)</a:t>
            </a:r>
            <a:endParaRPr lang="en-US" sz="1800" dirty="0"/>
          </a:p>
          <a:p>
            <a:pPr indent="0" marL="0">
              <a:buNone/>
            </a:pPr>
            <a:r>
              <a:rPr lang="en-US" sz="1400" dirty="0">
                <a:solidFill>
                  <a:schemeClr val="tx2"/>
                </a:solidFill>
              </a:rPr>
              <a:t>Cuán impredecible es el lenguaje. No depende del modelo.</a:t>
            </a:r>
            <a:endParaRPr lang="en-US" sz="1800" dirty="0"/>
          </a:p>
        </p:txBody>
      </p:sp>
      <p:sp>
        <p:nvSpPr>
          <p:cNvPr id="7" name="termino-KL"/>
          <p:cNvSpPr/>
          <p:nvPr/>
        </p:nvSpPr>
        <p:spPr>
          <a:xfrm>
            <a:off x="3657600" y="2606040"/>
            <a:ext cx="2926080" cy="1325880"/>
          </a:xfrm>
          <a:prstGeom prst="roundRect">
            <a:avLst>
              <a:gd name="adj" fmla="val 8276"/>
            </a:avLst>
          </a:prstGeom>
          <a:solidFill>
            <a:schemeClr val="bg2"/>
          </a:solidFill>
          <a:ln/>
          <a:effectLst>
            <a:outerShdw sx="100000" sy="100000" kx="0" ky="0" algn="bl" rotWithShape="0" blurRad="101600" dist="25400" dir="5400000">
              <a:srgbClr val="0E2A3B">
                <a:alpha val="12000"/>
              </a:srgbClr>
            </a:outerShdw>
          </a:effectLst>
        </p:spPr>
      </p:sp>
      <p:sp>
        <p:nvSpPr>
          <p:cNvPr id="8" name="Text 5"/>
          <p:cNvSpPr txBox="1"/>
          <p:nvPr/>
        </p:nvSpPr>
        <p:spPr>
          <a:xfrm>
            <a:off x="3886200" y="2743200"/>
            <a:ext cx="2514600" cy="1280160"/>
          </a:xfrm>
          <a:prstGeom prst="rect">
            <a:avLst/>
          </a:prstGeom>
          <a:noFill/>
          <a:ln/>
        </p:spPr>
        <p:txBody>
          <a:bodyPr wrap="square" lIns="0" tIns="0" rIns="0" bIns="0" rtlCol="0" anchor="t"/>
          <a:lstStyle/>
          <a:p>
            <a:pPr indent="0" marL="0">
              <a:buNone/>
            </a:pPr>
            <a:r>
              <a:rPr lang="en-US" sz="1800" b="1" dirty="0">
                <a:solidFill>
                  <a:schemeClr val="accent2"/>
                </a:solidFill>
              </a:rPr>
              <a:t>KL(p</a:t>
            </a:r>
            <a:pPr indent="0" marL="0">
              <a:buNone/>
            </a:pPr>
            <a:r>
              <a:rPr lang="en-US" sz="1800" b="1" baseline="-40000" dirty="0">
                <a:solidFill>
                  <a:schemeClr val="accent2"/>
                </a:solidFill>
              </a:rPr>
              <a:t>data</a:t>
            </a:r>
            <a:pPr indent="0" marL="0">
              <a:buNone/>
            </a:pPr>
            <a:r>
              <a:rPr lang="en-US" sz="1800" b="1" dirty="0">
                <a:solidFill>
                  <a:schemeClr val="accent2"/>
                </a:solidFill>
              </a:rPr>
              <a:t> ‖ p</a:t>
            </a:r>
            <a:pPr indent="0" marL="0">
              <a:buNone/>
            </a:pPr>
            <a:r>
              <a:rPr lang="en-US" sz="1800" b="1" baseline="-40000" dirty="0">
                <a:solidFill>
                  <a:schemeClr val="accent2"/>
                </a:solidFill>
              </a:rPr>
              <a:t>θ</a:t>
            </a:r>
            <a:pPr indent="0" marL="0">
              <a:buNone/>
            </a:pPr>
            <a:r>
              <a:rPr lang="en-US" sz="1800" b="1" dirty="0">
                <a:solidFill>
                  <a:schemeClr val="accent2"/>
                </a:solidFill>
              </a:rPr>
              <a:t>)</a:t>
            </a:r>
            <a:endParaRPr lang="en-US" sz="1800" dirty="0"/>
          </a:p>
          <a:p>
            <a:pPr indent="0" marL="0">
              <a:buNone/>
            </a:pPr>
            <a:r>
              <a:rPr lang="en-US" sz="1400" dirty="0">
                <a:solidFill>
                  <a:schemeClr val="accent2"/>
                </a:solidFill>
              </a:rPr>
              <a:t>Distancia del modelo al texto. Es lo único que el entrenamiento reduce.</a:t>
            </a:r>
            <a:endParaRPr lang="en-US" sz="1800" dirty="0"/>
          </a:p>
        </p:txBody>
      </p:sp>
      <p:sp>
        <p:nvSpPr>
          <p:cNvPr id="9" name="mensaje-capa1"/>
          <p:cNvSpPr/>
          <p:nvPr/>
        </p:nvSpPr>
        <p:spPr>
          <a:xfrm>
            <a:off x="548640" y="4206240"/>
            <a:ext cx="6035040" cy="1051560"/>
          </a:xfrm>
          <a:prstGeom prst="roundRect">
            <a:avLst>
              <a:gd name="adj" fmla="val 10435"/>
            </a:avLst>
          </a:prstGeom>
          <a:solidFill>
            <a:schemeClr val="tx2"/>
          </a:solidFill>
          <a:ln/>
          <a:effectLst>
            <a:outerShdw sx="100000" sy="100000" kx="0" ky="0" algn="bl" rotWithShape="0" blurRad="101600" dist="25400" dir="5400000">
              <a:srgbClr val="0E2A3B">
                <a:alpha val="12000"/>
              </a:srgbClr>
            </a:outerShdw>
          </a:effectLst>
        </p:spPr>
      </p:sp>
      <p:sp>
        <p:nvSpPr>
          <p:cNvPr id="10" name="Text 7"/>
          <p:cNvSpPr txBox="1"/>
          <p:nvPr/>
        </p:nvSpPr>
        <p:spPr>
          <a:xfrm>
            <a:off x="822960" y="4206240"/>
            <a:ext cx="5486400" cy="1051560"/>
          </a:xfrm>
          <a:prstGeom prst="rect">
            <a:avLst/>
          </a:prstGeom>
          <a:noFill/>
          <a:ln/>
        </p:spPr>
        <p:txBody>
          <a:bodyPr wrap="square" lIns="0" tIns="0" rIns="0" bIns="0" rtlCol="0" anchor="ctr"/>
          <a:lstStyle/>
          <a:p>
            <a:pPr indent="0" marL="0">
              <a:buNone/>
            </a:pPr>
            <a:r>
              <a:rPr lang="en-US" sz="1600" dirty="0">
                <a:solidFill>
                  <a:schemeClr val="bg1"/>
                </a:solidFill>
              </a:rPr>
              <a:t>Ningún término compara lo afirmado con los hechos: una falsedad frecuente es «correcta» para el objetivo.</a:t>
            </a:r>
            <a:endParaRPr lang="en-US" sz="1600" dirty="0"/>
          </a:p>
        </p:txBody>
      </p:sp>
      <p:sp>
        <p:nvSpPr>
          <p:cNvPr id="11" name="Text 8"/>
          <p:cNvSpPr txBox="1"/>
          <p:nvPr/>
        </p:nvSpPr>
        <p:spPr>
          <a:xfrm>
            <a:off x="548640" y="5440680"/>
            <a:ext cx="6035040" cy="365760"/>
          </a:xfrm>
          <a:prstGeom prst="rect">
            <a:avLst/>
          </a:prstGeom>
          <a:noFill/>
          <a:ln/>
        </p:spPr>
        <p:txBody>
          <a:bodyPr wrap="square" lIns="0" tIns="0" rIns="0" bIns="0" rtlCol="0" anchor="t"/>
          <a:lstStyle/>
          <a:p>
            <a:pPr indent="0" marL="0">
              <a:buNone/>
            </a:pPr>
            <a:r>
              <a:rPr lang="en-US" sz="1300" i="1" dirty="0">
                <a:solidFill>
                  <a:schemeClr val="accent5"/>
                </a:solidFill>
              </a:rPr>
              <a:t>Un modelo calibrado debe alucinar hechos raros (Kalai y Vempala, 2024).</a:t>
            </a:r>
            <a:endParaRPr lang="en-US" sz="1300" dirty="0"/>
          </a:p>
        </p:txBody>
      </p:sp>
      <p:graphicFrame>
        <p:nvGraphicFramePr>
          <p:cNvPr id="12" name="grafico-ece" descr=""/>
          <p:cNvGraphicFramePr/>
          <p:nvPr/>
        </p:nvGraphicFramePr>
        <p:xfrm>
          <a:off x="7132320" y="1417320"/>
          <a:ext cx="4480560" cy="3429000"/>
        </p:xfrm>
        <a:graphic xmlns:a="http://schemas.openxmlformats.org/drawingml/2006/main">
          <a:graphicData uri="http://schemas.openxmlformats.org/drawingml/2006/chart">
            <c:chart xmlns:c="http://schemas.openxmlformats.org/drawingml/2006/chart" r:id="rId2"/>
          </a:graphicData>
        </a:graphic>
      </p:graphicFrame>
      <p:sp>
        <p:nvSpPr>
          <p:cNvPr id="13" name="como-leer"/>
          <p:cNvSpPr/>
          <p:nvPr/>
        </p:nvSpPr>
        <p:spPr>
          <a:xfrm>
            <a:off x="7132320" y="4983480"/>
            <a:ext cx="4480560" cy="1051560"/>
          </a:xfrm>
          <a:prstGeom prst="roundRect">
            <a:avLst>
              <a:gd name="adj" fmla="val 8696"/>
            </a:avLst>
          </a:prstGeom>
          <a:solidFill>
            <a:schemeClr val="accent1">
              <a:alpha val="10000"/>
            </a:schemeClr>
          </a:solidFill>
          <a:ln/>
        </p:spPr>
      </p:sp>
      <p:sp>
        <p:nvSpPr>
          <p:cNvPr id="14" name="Text 10"/>
          <p:cNvSpPr txBox="1"/>
          <p:nvPr/>
        </p:nvSpPr>
        <p:spPr>
          <a:xfrm>
            <a:off x="7315200" y="5074920"/>
            <a:ext cx="4114800" cy="868680"/>
          </a:xfrm>
          <a:prstGeom prst="rect">
            <a:avLst/>
          </a:prstGeom>
          <a:noFill/>
          <a:ln/>
        </p:spPr>
        <p:txBody>
          <a:bodyPr wrap="square" lIns="0" tIns="0" rIns="0" bIns="0" rtlCol="0" anchor="t"/>
          <a:lstStyle/>
          <a:p>
            <a:pPr indent="0" marL="0">
              <a:buNone/>
            </a:pPr>
            <a:r>
              <a:rPr lang="en-US" sz="1200" b="1" dirty="0">
                <a:solidFill>
                  <a:schemeClr val="accent1"/>
                </a:solidFill>
              </a:rPr>
              <a:t>Cómo leer el gráfico</a:t>
            </a:r>
            <a:endParaRPr lang="en-US" sz="1400" dirty="0"/>
          </a:p>
          <a:p>
            <a:pPr indent="0" marL="0">
              <a:buNone/>
            </a:pPr>
            <a:r>
              <a:rPr lang="en-US" sz="1300" dirty="0">
                <a:solidFill>
                  <a:schemeClr val="tx1"/>
                </a:solidFill>
              </a:rPr>
              <a:t>El ECE es la brecha promedio entre la confianza que declara el modelo y su acierto real (0 = calibración perfecta). Tras temperature scaling, la brecha es casi siete veces menor.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Capa 2 · Parecerse no es decir lo mismo</a:t>
            </a:r>
            <a:endParaRPr lang="en-US" sz="3000" dirty="0"/>
          </a:p>
        </p:txBody>
      </p:sp>
      <p:pic>
        <p:nvPicPr>
          <p:cNvPr id="3" name="ecuacion-2" descr="C:\Users\Usuario\AppData\Local\Temp\claude\C--Users-Usuario-Desktop-Universidad-S9-IA-paper\75d33420-834f-4c2d-b351-e3434f508e7f\scratchpad\deck\eq2.png">    </p:cNvPr>
          <p:cNvPicPr>
            <a:picLocks noChangeAspect="1"/>
          </p:cNvPicPr>
          <p:nvPr/>
        </p:nvPicPr>
        <p:blipFill>
          <a:blip r:embed="rId1"/>
          <a:stretch>
            <a:fillRect/>
          </a:stretch>
        </p:blipFill>
        <p:spPr>
          <a:xfrm>
            <a:off x="548640" y="1463040"/>
            <a:ext cx="7680960" cy="441130"/>
          </a:xfrm>
          <a:prstGeom prst="rect">
            <a:avLst/>
          </a:prstGeom>
        </p:spPr>
      </p:pic>
      <p:sp>
        <p:nvSpPr>
          <p:cNvPr id="4" name="Text 1"/>
          <p:cNvSpPr txBox="1"/>
          <p:nvPr/>
        </p:nvSpPr>
        <p:spPr>
          <a:xfrm>
            <a:off x="548640" y="2011680"/>
            <a:ext cx="7863840" cy="365760"/>
          </a:xfrm>
          <a:prstGeom prst="rect">
            <a:avLst/>
          </a:prstGeom>
          <a:noFill/>
          <a:ln/>
        </p:spPr>
        <p:txBody>
          <a:bodyPr wrap="square" lIns="0" tIns="0" rIns="0" bIns="0" rtlCol="0" anchor="t"/>
          <a:lstStyle/>
          <a:p>
            <a:pPr indent="0" marL="0">
              <a:buNone/>
            </a:pPr>
            <a:r>
              <a:rPr lang="en-US" sz="1400" i="1" dirty="0">
                <a:solidFill>
                  <a:schemeClr val="accent5"/>
                </a:solidFill>
              </a:rPr>
              <a:t>Ecuación (2): se entrega solo si trata el mismo tema (similitud) y dice lo mismo (implicación lógica, NLI).</a:t>
            </a:r>
            <a:endParaRPr lang="en-US" sz="1400" dirty="0"/>
          </a:p>
        </p:txBody>
      </p:sp>
      <p:sp>
        <p:nvSpPr>
          <p:cNvPr id="5" name="evidencia"/>
          <p:cNvSpPr/>
          <p:nvPr/>
        </p:nvSpPr>
        <p:spPr>
          <a:xfrm>
            <a:off x="548640" y="2697480"/>
            <a:ext cx="5577840" cy="1005840"/>
          </a:xfrm>
          <a:prstGeom prst="roundRect">
            <a:avLst>
              <a:gd name="adj" fmla="val 10909"/>
            </a:avLst>
          </a:prstGeom>
          <a:solidFill>
            <a:schemeClr val="bg2"/>
          </a:solidFill>
          <a:ln/>
          <a:effectLst>
            <a:outerShdw sx="100000" sy="100000" kx="0" ky="0" algn="bl" rotWithShape="0" blurRad="101600" dist="25400" dir="5400000">
              <a:srgbClr val="0E2A3B">
                <a:alpha val="12000"/>
              </a:srgbClr>
            </a:outerShdw>
          </a:effectLst>
        </p:spPr>
      </p:sp>
      <p:sp>
        <p:nvSpPr>
          <p:cNvPr id="6" name="Text 3"/>
          <p:cNvSpPr txBox="1"/>
          <p:nvPr/>
        </p:nvSpPr>
        <p:spPr>
          <a:xfrm>
            <a:off x="822960" y="2788920"/>
            <a:ext cx="5120640" cy="868680"/>
          </a:xfrm>
          <a:prstGeom prst="rect">
            <a:avLst/>
          </a:prstGeom>
          <a:noFill/>
          <a:ln/>
        </p:spPr>
        <p:txBody>
          <a:bodyPr wrap="square" lIns="0" tIns="0" rIns="0" bIns="0" rtlCol="0" anchor="t"/>
          <a:lstStyle/>
          <a:p>
            <a:pPr indent="0" marL="0">
              <a:buNone/>
            </a:pPr>
            <a:r>
              <a:rPr lang="en-US" sz="1200" b="1" dirty="0">
                <a:solidFill>
                  <a:schemeClr val="accent1"/>
                </a:solidFill>
              </a:rPr>
              <a:t>Evidencia curada</a:t>
            </a:r>
            <a:endParaRPr lang="en-US" sz="1400" dirty="0"/>
          </a:p>
          <a:p>
            <a:pPr indent="0" marL="0">
              <a:buNone/>
            </a:pPr>
            <a:r>
              <a:rPr lang="en-US" sz="1600" dirty="0">
                <a:solidFill>
                  <a:schemeClr val="tx1"/>
                </a:solidFill>
              </a:rPr>
              <a:t>«La dosis pediátrica de amoxicilina es de 25 mg por kg cada 12 horas»</a:t>
            </a:r>
            <a:endParaRPr lang="en-US" sz="1400" dirty="0"/>
          </a:p>
        </p:txBody>
      </p:sp>
      <p:sp>
        <p:nvSpPr>
          <p:cNvPr id="7" name="afirmacion"/>
          <p:cNvSpPr/>
          <p:nvPr/>
        </p:nvSpPr>
        <p:spPr>
          <a:xfrm>
            <a:off x="548640" y="3840480"/>
            <a:ext cx="5577840" cy="1005840"/>
          </a:xfrm>
          <a:prstGeom prst="roundRect">
            <a:avLst>
              <a:gd name="adj" fmla="val 10909"/>
            </a:avLst>
          </a:prstGeom>
          <a:solidFill>
            <a:schemeClr val="accent2">
              <a:alpha val="15000"/>
            </a:schemeClr>
          </a:solidFill>
          <a:ln/>
        </p:spPr>
      </p:sp>
      <p:sp>
        <p:nvSpPr>
          <p:cNvPr id="8" name="Text 5"/>
          <p:cNvSpPr txBox="1"/>
          <p:nvPr/>
        </p:nvSpPr>
        <p:spPr>
          <a:xfrm>
            <a:off x="822960" y="3931920"/>
            <a:ext cx="5120640" cy="868680"/>
          </a:xfrm>
          <a:prstGeom prst="rect">
            <a:avLst/>
          </a:prstGeom>
          <a:noFill/>
          <a:ln/>
        </p:spPr>
        <p:txBody>
          <a:bodyPr wrap="square" lIns="0" tIns="0" rIns="0" bIns="0" rtlCol="0" anchor="t"/>
          <a:lstStyle/>
          <a:p>
            <a:pPr indent="0" marL="0">
              <a:buNone/>
            </a:pPr>
            <a:r>
              <a:rPr lang="en-US" sz="1200" b="1" dirty="0">
                <a:solidFill>
                  <a:schemeClr val="accent2"/>
                </a:solidFill>
              </a:rPr>
              <a:t>Afirmación del LLM (falsa)</a:t>
            </a:r>
            <a:endParaRPr lang="en-US" sz="1400" dirty="0"/>
          </a:p>
          <a:p>
            <a:pPr indent="0" marL="0">
              <a:buNone/>
            </a:pPr>
            <a:r>
              <a:rPr lang="en-US" sz="1600" dirty="0">
                <a:solidFill>
                  <a:schemeClr val="tx1"/>
                </a:solidFill>
              </a:rPr>
              <a:t>«La dosis de amoxicilina en niños es 250 mg por kg cada 12 horas»</a:t>
            </a:r>
            <a:endParaRPr lang="en-US" sz="1400" dirty="0"/>
          </a:p>
        </p:txBody>
      </p:sp>
      <p:sp>
        <p:nvSpPr>
          <p:cNvPr id="9" name="circulo-similitud"/>
          <p:cNvSpPr/>
          <p:nvPr/>
        </p:nvSpPr>
        <p:spPr>
          <a:xfrm>
            <a:off x="548640" y="5120640"/>
            <a:ext cx="502920" cy="502920"/>
          </a:xfrm>
          <a:prstGeom prst="ellipse">
            <a:avLst/>
          </a:prstGeom>
          <a:solidFill>
            <a:srgbClr val="5B6B76"/>
          </a:solidFill>
          <a:ln/>
        </p:spPr>
      </p:sp>
      <p:pic>
        <p:nvPicPr>
          <p:cNvPr id="10" name="icono-similitud" descr="preencoded.png">    </p:cNvPr>
          <p:cNvPicPr>
            <a:picLocks noChangeAspect="1"/>
          </p:cNvPicPr>
          <p:nvPr/>
        </p:nvPicPr>
        <p:blipFill>
          <a:blip r:embed="rId2"/>
          <a:stretch>
            <a:fillRect/>
          </a:stretch>
        </p:blipFill>
        <p:spPr>
          <a:xfrm>
            <a:off x="669341" y="5241341"/>
            <a:ext cx="261518" cy="261518"/>
          </a:xfrm>
          <a:prstGeom prst="rect">
            <a:avLst/>
          </a:prstGeom>
        </p:spPr>
      </p:pic>
      <p:sp>
        <p:nvSpPr>
          <p:cNvPr id="11" name="Text 7"/>
          <p:cNvSpPr txBox="1"/>
          <p:nvPr/>
        </p:nvSpPr>
        <p:spPr>
          <a:xfrm>
            <a:off x="1188720" y="5120640"/>
            <a:ext cx="1920240" cy="685800"/>
          </a:xfrm>
          <a:prstGeom prst="rect">
            <a:avLst/>
          </a:prstGeom>
          <a:noFill/>
          <a:ln/>
        </p:spPr>
        <p:txBody>
          <a:bodyPr wrap="square" lIns="0" tIns="0" rIns="0" bIns="0" rtlCol="0" anchor="ctr"/>
          <a:lstStyle/>
          <a:p>
            <a:pPr indent="0" marL="0">
              <a:buNone/>
            </a:pPr>
            <a:r>
              <a:rPr lang="en-US" sz="1400" dirty="0">
                <a:solidFill>
                  <a:schemeClr val="tx1"/>
                </a:solidFill>
              </a:rPr>
              <a:t>Regla 1: la deja pasar (similitud 0,80)</a:t>
            </a:r>
            <a:endParaRPr lang="en-US" sz="1400" dirty="0"/>
          </a:p>
        </p:txBody>
      </p:sp>
      <p:sp>
        <p:nvSpPr>
          <p:cNvPr id="12" name="circulo-verificador"/>
          <p:cNvSpPr/>
          <p:nvPr/>
        </p:nvSpPr>
        <p:spPr>
          <a:xfrm>
            <a:off x="3246120" y="5120640"/>
            <a:ext cx="502920" cy="502920"/>
          </a:xfrm>
          <a:prstGeom prst="ellipse">
            <a:avLst/>
          </a:prstGeom>
          <a:solidFill>
            <a:srgbClr val="E05A3A"/>
          </a:solidFill>
          <a:ln/>
        </p:spPr>
      </p:sp>
      <p:pic>
        <p:nvPicPr>
          <p:cNvPr id="13" name="icono-verificador" descr="preencoded.png">    </p:cNvPr>
          <p:cNvPicPr>
            <a:picLocks noChangeAspect="1"/>
          </p:cNvPicPr>
          <p:nvPr/>
        </p:nvPicPr>
        <p:blipFill>
          <a:blip r:embed="rId3"/>
          <a:stretch>
            <a:fillRect/>
          </a:stretch>
        </p:blipFill>
        <p:spPr>
          <a:xfrm>
            <a:off x="3366821" y="5241341"/>
            <a:ext cx="261518" cy="261518"/>
          </a:xfrm>
          <a:prstGeom prst="rect">
            <a:avLst/>
          </a:prstGeom>
        </p:spPr>
      </p:pic>
      <p:sp>
        <p:nvSpPr>
          <p:cNvPr id="14" name="Text 9"/>
          <p:cNvSpPr txBox="1"/>
          <p:nvPr/>
        </p:nvSpPr>
        <p:spPr>
          <a:xfrm>
            <a:off x="3886200" y="5120640"/>
            <a:ext cx="2377440" cy="685800"/>
          </a:xfrm>
          <a:prstGeom prst="rect">
            <a:avLst/>
          </a:prstGeom>
          <a:noFill/>
          <a:ln/>
        </p:spPr>
        <p:txBody>
          <a:bodyPr wrap="square" lIns="0" tIns="0" rIns="0" bIns="0" rtlCol="0" anchor="ctr"/>
          <a:lstStyle/>
          <a:p>
            <a:pPr indent="0" marL="0">
              <a:buNone/>
            </a:pPr>
            <a:r>
              <a:rPr lang="en-US" sz="1400" b="1" dirty="0">
                <a:solidFill>
                  <a:schemeClr val="accent2"/>
                </a:solidFill>
              </a:rPr>
              <a:t>Regla 2, con verificador: detecta la contradicción y escala</a:t>
            </a:r>
            <a:endParaRPr lang="en-US" sz="1400" dirty="0"/>
          </a:p>
        </p:txBody>
      </p:sp>
      <p:graphicFrame>
        <p:nvGraphicFramePr>
          <p:cNvPr id="15" name="grafico-fuga" descr=""/>
          <p:cNvGraphicFramePr/>
          <p:nvPr/>
        </p:nvGraphicFramePr>
        <p:xfrm>
          <a:off x="6675120" y="2514600"/>
          <a:ext cx="4937760" cy="2606040"/>
        </p:xfrm>
        <a:graphic xmlns:a="http://schemas.openxmlformats.org/drawingml/2006/main">
          <a:graphicData uri="http://schemas.openxmlformats.org/drawingml/2006/chart">
            <c:chart xmlns:c="http://schemas.openxmlformats.org/drawingml/2006/chart" r:id="rId4"/>
          </a:graphicData>
        </a:graphic>
      </p:graphicFrame>
      <p:sp>
        <p:nvSpPr>
          <p:cNvPr id="16" name="como-leer"/>
          <p:cNvSpPr/>
          <p:nvPr/>
        </p:nvSpPr>
        <p:spPr>
          <a:xfrm>
            <a:off x="6675120" y="5212080"/>
            <a:ext cx="4937760" cy="1143000"/>
          </a:xfrm>
          <a:prstGeom prst="roundRect">
            <a:avLst>
              <a:gd name="adj" fmla="val 8000"/>
            </a:avLst>
          </a:prstGeom>
          <a:solidFill>
            <a:schemeClr val="accent1">
              <a:alpha val="10000"/>
            </a:schemeClr>
          </a:solidFill>
          <a:ln/>
        </p:spPr>
      </p:sp>
      <p:sp>
        <p:nvSpPr>
          <p:cNvPr id="17" name="Text 11"/>
          <p:cNvSpPr txBox="1"/>
          <p:nvPr/>
        </p:nvSpPr>
        <p:spPr>
          <a:xfrm>
            <a:off x="6858000" y="5303520"/>
            <a:ext cx="4572000" cy="960120"/>
          </a:xfrm>
          <a:prstGeom prst="rect">
            <a:avLst/>
          </a:prstGeom>
          <a:noFill/>
          <a:ln/>
        </p:spPr>
        <p:txBody>
          <a:bodyPr wrap="square" lIns="0" tIns="0" rIns="0" bIns="0" rtlCol="0" anchor="t"/>
          <a:lstStyle/>
          <a:p>
            <a:pPr indent="0" marL="0">
              <a:buNone/>
            </a:pPr>
            <a:r>
              <a:rPr lang="en-US" sz="1200" b="1" dirty="0">
                <a:solidFill>
                  <a:schemeClr val="accent1"/>
                </a:solidFill>
              </a:rPr>
              <a:t>Cómo leer el gráfico</a:t>
            </a:r>
            <a:endParaRPr lang="en-US" sz="1400" dirty="0"/>
          </a:p>
          <a:p>
            <a:pPr indent="0" marL="0">
              <a:buNone/>
            </a:pPr>
            <a:r>
              <a:rPr lang="en-US" sz="1300" dirty="0">
                <a:solidFill>
                  <a:schemeClr val="tx1"/>
                </a:solidFill>
              </a:rPr>
              <a:t>La demo tiene 5 afirmaciones falsas, como la de 250 mg. Cada barra cuenta cuántas llegarían al paciente con cada regla: con solo similitud pasan las 5; al exigir además el verificador, pasa 1 (la de «segunda línea»).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Explicar no es justificar</a:t>
            </a:r>
            <a:endParaRPr lang="en-US" sz="3000" dirty="0"/>
          </a:p>
        </p:txBody>
      </p:sp>
      <p:graphicFrame>
        <p:nvGraphicFramePr>
          <p:cNvPr id="3" name="grafico-shapley" descr=""/>
          <p:cNvGraphicFramePr/>
          <p:nvPr/>
        </p:nvGraphicFramePr>
        <p:xfrm>
          <a:off x="548640" y="137160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4" name="como-leer"/>
          <p:cNvSpPr/>
          <p:nvPr/>
        </p:nvSpPr>
        <p:spPr>
          <a:xfrm>
            <a:off x="548640" y="5303520"/>
            <a:ext cx="6583680" cy="1005840"/>
          </a:xfrm>
          <a:prstGeom prst="roundRect">
            <a:avLst>
              <a:gd name="adj" fmla="val 9091"/>
            </a:avLst>
          </a:prstGeom>
          <a:solidFill>
            <a:schemeClr val="accent1">
              <a:alpha val="10000"/>
            </a:schemeClr>
          </a:solidFill>
          <a:ln/>
        </p:spPr>
      </p:sp>
      <p:sp>
        <p:nvSpPr>
          <p:cNvPr id="5" name="Text 2"/>
          <p:cNvSpPr txBox="1"/>
          <p:nvPr/>
        </p:nvSpPr>
        <p:spPr>
          <a:xfrm>
            <a:off x="731520" y="5394960"/>
            <a:ext cx="6217920" cy="822960"/>
          </a:xfrm>
          <a:prstGeom prst="rect">
            <a:avLst/>
          </a:prstGeom>
          <a:noFill/>
          <a:ln/>
        </p:spPr>
        <p:txBody>
          <a:bodyPr wrap="square" lIns="0" tIns="0" rIns="0" bIns="0" rtlCol="0" anchor="t"/>
          <a:lstStyle/>
          <a:p>
            <a:pPr indent="0" marL="0">
              <a:buNone/>
            </a:pPr>
            <a:r>
              <a:rPr lang="en-US" sz="1200" b="1" dirty="0">
                <a:solidFill>
                  <a:schemeClr val="accent1"/>
                </a:solidFill>
              </a:rPr>
              <a:t>Cómo leer el gráfico</a:t>
            </a:r>
            <a:endParaRPr lang="en-US" sz="1400" dirty="0"/>
          </a:p>
          <a:p>
            <a:pPr indent="0" marL="0">
              <a:buNone/>
            </a:pPr>
            <a:r>
              <a:rPr lang="en-US" sz="1300" dirty="0">
                <a:solidFill>
                  <a:schemeClr val="tx1"/>
                </a:solidFill>
              </a:rPr>
              <a:t>Cada barra dice cuántos puntos porcentuales sube (verde y naranja) o baja (gris) una variable el riesgo de este paciente frente al promedio. Su riesgo es 64 %; el promedio, 43 %. La barra más larga no es clínica.</a:t>
            </a:r>
            <a:endParaRPr lang="en-US" sz="1400" dirty="0"/>
          </a:p>
        </p:txBody>
      </p:sp>
      <p:sp>
        <p:nvSpPr>
          <p:cNvPr id="6" name="circulo-explica1"/>
          <p:cNvSpPr/>
          <p:nvPr/>
        </p:nvSpPr>
        <p:spPr>
          <a:xfrm>
            <a:off x="7498080" y="1508760"/>
            <a:ext cx="685800" cy="685800"/>
          </a:xfrm>
          <a:prstGeom prst="ellipse">
            <a:avLst/>
          </a:prstGeom>
          <a:solidFill>
            <a:srgbClr val="5B6B76"/>
          </a:solidFill>
          <a:ln/>
        </p:spPr>
      </p:sp>
      <p:pic>
        <p:nvPicPr>
          <p:cNvPr id="7" name="icono-explica1" descr="preencoded.png">    </p:cNvPr>
          <p:cNvPicPr>
            <a:picLocks noChangeAspect="1"/>
          </p:cNvPicPr>
          <p:nvPr/>
        </p:nvPicPr>
        <p:blipFill>
          <a:blip r:embed="rId2"/>
          <a:stretch>
            <a:fillRect/>
          </a:stretch>
        </p:blipFill>
        <p:spPr>
          <a:xfrm>
            <a:off x="7662672" y="1673352"/>
            <a:ext cx="356616" cy="356616"/>
          </a:xfrm>
          <a:prstGeom prst="rect">
            <a:avLst/>
          </a:prstGeom>
        </p:spPr>
      </p:pic>
      <p:sp>
        <p:nvSpPr>
          <p:cNvPr id="8" name="Text 4"/>
          <p:cNvSpPr txBox="1"/>
          <p:nvPr/>
        </p:nvSpPr>
        <p:spPr>
          <a:xfrm>
            <a:off x="8366760" y="1463040"/>
            <a:ext cx="3291840" cy="1188720"/>
          </a:xfrm>
          <a:prstGeom prst="rect">
            <a:avLst/>
          </a:prstGeom>
          <a:noFill/>
          <a:ln/>
        </p:spPr>
        <p:txBody>
          <a:bodyPr wrap="square" lIns="0" tIns="0" rIns="0" bIns="0" rtlCol="0" anchor="t"/>
          <a:lstStyle/>
          <a:p>
            <a:pPr indent="0" marL="0">
              <a:buNone/>
            </a:pPr>
            <a:r>
              <a:rPr lang="en-US" sz="1700" b="1" dirty="0">
                <a:solidFill>
                  <a:schemeClr val="tx2"/>
                </a:solidFill>
              </a:rPr>
              <a:t>Atención ≠ explicación</a:t>
            </a:r>
            <a:endParaRPr lang="en-US" sz="1400" dirty="0"/>
          </a:p>
          <a:p>
            <a:pPr indent="0" marL="0">
              <a:buNone/>
            </a:pPr>
            <a:r>
              <a:rPr lang="en-US" sz="1400" dirty="0">
                <a:solidFill>
                  <a:schemeClr val="tx1"/>
                </a:solidFill>
              </a:rPr>
              <a:t>Atenciones distintas producen la misma predicción (Jain y Wallace, 2019)</a:t>
            </a:r>
            <a:endParaRPr lang="en-US" sz="1400" dirty="0"/>
          </a:p>
        </p:txBody>
      </p:sp>
      <p:sp>
        <p:nvSpPr>
          <p:cNvPr id="9" name="circulo-explica2"/>
          <p:cNvSpPr/>
          <p:nvPr/>
        </p:nvSpPr>
        <p:spPr>
          <a:xfrm>
            <a:off x="7498080" y="2880360"/>
            <a:ext cx="685800" cy="685800"/>
          </a:xfrm>
          <a:prstGeom prst="ellipse">
            <a:avLst/>
          </a:prstGeom>
          <a:solidFill>
            <a:srgbClr val="127C80"/>
          </a:solidFill>
          <a:ln/>
        </p:spPr>
      </p:sp>
      <p:pic>
        <p:nvPicPr>
          <p:cNvPr id="10" name="icono-explica2" descr="preencoded.png">    </p:cNvPr>
          <p:cNvPicPr>
            <a:picLocks noChangeAspect="1"/>
          </p:cNvPicPr>
          <p:nvPr/>
        </p:nvPicPr>
        <p:blipFill>
          <a:blip r:embed="rId3"/>
          <a:stretch>
            <a:fillRect/>
          </a:stretch>
        </p:blipFill>
        <p:spPr>
          <a:xfrm>
            <a:off x="7662672" y="3044952"/>
            <a:ext cx="356616" cy="356616"/>
          </a:xfrm>
          <a:prstGeom prst="rect">
            <a:avLst/>
          </a:prstGeom>
        </p:spPr>
      </p:pic>
      <p:sp>
        <p:nvSpPr>
          <p:cNvPr id="11" name="Text 6"/>
          <p:cNvSpPr txBox="1"/>
          <p:nvPr/>
        </p:nvSpPr>
        <p:spPr>
          <a:xfrm>
            <a:off x="8366760" y="2834640"/>
            <a:ext cx="3291840" cy="1188720"/>
          </a:xfrm>
          <a:prstGeom prst="rect">
            <a:avLst/>
          </a:prstGeom>
          <a:noFill/>
          <a:ln/>
        </p:spPr>
        <p:txBody>
          <a:bodyPr wrap="square" lIns="0" tIns="0" rIns="0" bIns="0" rtlCol="0" anchor="t"/>
          <a:lstStyle/>
          <a:p>
            <a:pPr indent="0" marL="0">
              <a:buNone/>
            </a:pPr>
            <a:r>
              <a:rPr lang="en-US" sz="1700" b="1" dirty="0">
                <a:solidFill>
                  <a:schemeClr val="tx2"/>
                </a:solidFill>
              </a:rPr>
              <a:t>Shapley: exacto y auditable</a:t>
            </a:r>
            <a:endParaRPr lang="en-US" sz="1400" dirty="0"/>
          </a:p>
          <a:p>
            <a:pPr indent="0" marL="0">
              <a:buNone/>
            </a:pPr>
            <a:r>
              <a:rPr lang="en-US" sz="1400" dirty="0">
                <a:solidFill>
                  <a:schemeClr val="tx1"/>
                </a:solidFill>
              </a:rPr>
              <a:t>Las contribuciones suman la diferencia con el promedio</a:t>
            </a:r>
            <a:endParaRPr lang="en-US" sz="1400" dirty="0"/>
          </a:p>
        </p:txBody>
      </p:sp>
      <p:sp>
        <p:nvSpPr>
          <p:cNvPr id="12" name="circulo-explica3"/>
          <p:cNvSpPr/>
          <p:nvPr/>
        </p:nvSpPr>
        <p:spPr>
          <a:xfrm>
            <a:off x="7498080" y="4251960"/>
            <a:ext cx="685800" cy="685800"/>
          </a:xfrm>
          <a:prstGeom prst="ellipse">
            <a:avLst/>
          </a:prstGeom>
          <a:solidFill>
            <a:srgbClr val="E05A3A"/>
          </a:solidFill>
          <a:ln/>
        </p:spPr>
      </p:sp>
      <p:pic>
        <p:nvPicPr>
          <p:cNvPr id="13" name="icono-explica3" descr="preencoded.png">    </p:cNvPr>
          <p:cNvPicPr>
            <a:picLocks noChangeAspect="1"/>
          </p:cNvPicPr>
          <p:nvPr/>
        </p:nvPicPr>
        <p:blipFill>
          <a:blip r:embed="rId4"/>
          <a:stretch>
            <a:fillRect/>
          </a:stretch>
        </p:blipFill>
        <p:spPr>
          <a:xfrm>
            <a:off x="7662672" y="4416552"/>
            <a:ext cx="356616" cy="356616"/>
          </a:xfrm>
          <a:prstGeom prst="rect">
            <a:avLst/>
          </a:prstGeom>
        </p:spPr>
      </p:pic>
      <p:sp>
        <p:nvSpPr>
          <p:cNvPr id="14" name="Text 8"/>
          <p:cNvSpPr txBox="1"/>
          <p:nvPr/>
        </p:nvSpPr>
        <p:spPr>
          <a:xfrm>
            <a:off x="8366760" y="4206240"/>
            <a:ext cx="3291840" cy="1188720"/>
          </a:xfrm>
          <a:prstGeom prst="rect">
            <a:avLst/>
          </a:prstGeom>
          <a:noFill/>
          <a:ln/>
        </p:spPr>
        <p:txBody>
          <a:bodyPr wrap="square" lIns="0" tIns="0" rIns="0" bIns="0" rtlCol="0" anchor="t"/>
          <a:lstStyle/>
          <a:p>
            <a:pPr indent="0" marL="0">
              <a:buNone/>
            </a:pPr>
            <a:r>
              <a:rPr lang="en-US" sz="1700" b="1" dirty="0">
                <a:solidFill>
                  <a:schemeClr val="tx2"/>
                </a:solidFill>
              </a:rPr>
              <a:t>Delata un proxy</a:t>
            </a:r>
            <a:endParaRPr lang="en-US" sz="1400" dirty="0"/>
          </a:p>
          <a:p>
            <a:pPr indent="0" marL="0">
              <a:buNone/>
            </a:pPr>
            <a:r>
              <a:rPr lang="en-US" sz="1400" dirty="0">
                <a:solidFill>
                  <a:schemeClr val="tx1"/>
                </a:solidFill>
              </a:rPr>
              <a:t>La zona de residencia, no una variable clínica, domina la predicción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Capa 3 · ¿Cuándo debe decidir un humano?</a:t>
            </a:r>
            <a:endParaRPr lang="en-US" sz="3000" dirty="0"/>
          </a:p>
        </p:txBody>
      </p:sp>
      <p:sp>
        <p:nvSpPr>
          <p:cNvPr id="3" name="marco-ecuacion-3"/>
          <p:cNvSpPr/>
          <p:nvPr/>
        </p:nvSpPr>
        <p:spPr>
          <a:xfrm>
            <a:off x="548640" y="1417320"/>
            <a:ext cx="5760720" cy="1600200"/>
          </a:xfrm>
          <a:prstGeom prst="roundRect">
            <a:avLst>
              <a:gd name="adj" fmla="val 6857"/>
            </a:avLst>
          </a:prstGeom>
          <a:solidFill>
            <a:schemeClr val="bg2"/>
          </a:solidFill>
          <a:ln/>
          <a:effectLst>
            <a:outerShdw sx="100000" sy="100000" kx="0" ky="0" algn="bl" rotWithShape="0" blurRad="101600" dist="25400" dir="5400000">
              <a:srgbClr val="0E2A3B">
                <a:alpha val="12000"/>
              </a:srgbClr>
            </a:outerShdw>
          </a:effectLst>
        </p:spPr>
      </p:sp>
      <p:pic>
        <p:nvPicPr>
          <p:cNvPr id="4" name="ecuacion-3" descr="C:\Users\Usuario\AppData\Local\Temp\claude\C--Users-Usuario-Desktop-Universidad-S9-IA-paper\75d33420-834f-4c2d-b351-e3434f508e7f\scratchpad\deck\eq3.png">    </p:cNvPr>
          <p:cNvPicPr>
            <a:picLocks noChangeAspect="1"/>
          </p:cNvPicPr>
          <p:nvPr/>
        </p:nvPicPr>
        <p:blipFill>
          <a:blip r:embed="rId1"/>
          <a:stretch>
            <a:fillRect/>
          </a:stretch>
        </p:blipFill>
        <p:spPr>
          <a:xfrm>
            <a:off x="1234440" y="1572768"/>
            <a:ext cx="4389120" cy="863150"/>
          </a:xfrm>
          <a:prstGeom prst="rect">
            <a:avLst/>
          </a:prstGeom>
        </p:spPr>
      </p:pic>
      <p:sp>
        <p:nvSpPr>
          <p:cNvPr id="5" name="Text 2"/>
          <p:cNvSpPr txBox="1"/>
          <p:nvPr/>
        </p:nvSpPr>
        <p:spPr>
          <a:xfrm>
            <a:off x="548640" y="3108960"/>
            <a:ext cx="5760720" cy="320040"/>
          </a:xfrm>
          <a:prstGeom prst="rect">
            <a:avLst/>
          </a:prstGeom>
          <a:noFill/>
          <a:ln/>
        </p:spPr>
        <p:txBody>
          <a:bodyPr wrap="square" lIns="0" tIns="0" rIns="0" bIns="0" rtlCol="0" anchor="t"/>
          <a:lstStyle/>
          <a:p>
            <a:pPr algn="ctr" indent="0" marL="0">
              <a:buNone/>
            </a:pPr>
            <a:r>
              <a:rPr lang="en-US" sz="1200" i="1" dirty="0">
                <a:solidFill>
                  <a:schemeClr val="accent5"/>
                </a:solidFill>
              </a:rPr>
              <a:t>Ecuación (3) · regla de rechazo de Chow (1970) con revisor imperfecto</a:t>
            </a:r>
            <a:endParaRPr lang="en-US" sz="1200" dirty="0"/>
          </a:p>
        </p:txBody>
      </p:sp>
      <p:sp>
        <p:nvSpPr>
          <p:cNvPr id="6" name="Text 3"/>
          <p:cNvSpPr txBox="1"/>
          <p:nvPr/>
        </p:nvSpPr>
        <p:spPr>
          <a:xfrm>
            <a:off x="548640" y="3657600"/>
            <a:ext cx="548640" cy="82296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π</a:t>
            </a:r>
            <a:endParaRPr lang="en-US" sz="2600" dirty="0"/>
          </a:p>
        </p:txBody>
      </p:sp>
      <p:sp>
        <p:nvSpPr>
          <p:cNvPr id="7" name="Text 4"/>
          <p:cNvSpPr txBox="1"/>
          <p:nvPr/>
        </p:nvSpPr>
        <p:spPr>
          <a:xfrm>
            <a:off x="1143000" y="3657600"/>
            <a:ext cx="2194560" cy="822960"/>
          </a:xfrm>
          <a:prstGeom prst="rect">
            <a:avLst/>
          </a:prstGeom>
          <a:noFill/>
          <a:ln/>
        </p:spPr>
        <p:txBody>
          <a:bodyPr wrap="square" lIns="0" tIns="0" rIns="0" bIns="0" rtlCol="0" anchor="ctr"/>
          <a:lstStyle/>
          <a:p>
            <a:pPr indent="0" marL="0">
              <a:buNone/>
            </a:pPr>
            <a:r>
              <a:rPr lang="en-US" sz="1400" dirty="0">
                <a:solidFill>
                  <a:schemeClr val="tx1"/>
                </a:solidFill>
              </a:rPr>
              <a:t>confianza calibrada de que la salida es correcta</a:t>
            </a:r>
            <a:endParaRPr lang="en-US" sz="1400" dirty="0"/>
          </a:p>
        </p:txBody>
      </p:sp>
      <p:sp>
        <p:nvSpPr>
          <p:cNvPr id="8" name="Text 5"/>
          <p:cNvSpPr txBox="1"/>
          <p:nvPr/>
        </p:nvSpPr>
        <p:spPr>
          <a:xfrm>
            <a:off x="3474720" y="3657600"/>
            <a:ext cx="548640" cy="82296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c</a:t>
            </a:r>
            <a:pPr indent="0" marL="0">
              <a:buNone/>
            </a:pPr>
            <a:r>
              <a:rPr lang="en-US" sz="2600" b="1" baseline="-40000" dirty="0">
                <a:solidFill>
                  <a:schemeClr val="accent1"/>
                </a:solidFill>
                <a:latin typeface="Cambria" pitchFamily="34" charset="0"/>
                <a:ea typeface="Cambria" pitchFamily="34" charset="-122"/>
                <a:cs typeface="Cambria" pitchFamily="34" charset="-120"/>
              </a:rPr>
              <a:t>h</a:t>
            </a:r>
            <a:endParaRPr lang="en-US" sz="2600" dirty="0"/>
          </a:p>
        </p:txBody>
      </p:sp>
      <p:sp>
        <p:nvSpPr>
          <p:cNvPr id="9" name="Text 6"/>
          <p:cNvSpPr txBox="1"/>
          <p:nvPr/>
        </p:nvSpPr>
        <p:spPr>
          <a:xfrm>
            <a:off x="4069080" y="3657600"/>
            <a:ext cx="2194560" cy="822960"/>
          </a:xfrm>
          <a:prstGeom prst="rect">
            <a:avLst/>
          </a:prstGeom>
          <a:noFill/>
          <a:ln/>
        </p:spPr>
        <p:txBody>
          <a:bodyPr wrap="square" lIns="0" tIns="0" rIns="0" bIns="0" rtlCol="0" anchor="ctr"/>
          <a:lstStyle/>
          <a:p>
            <a:pPr indent="0" marL="0">
              <a:buNone/>
            </a:pPr>
            <a:r>
              <a:rPr lang="en-US" sz="1400" dirty="0">
                <a:solidFill>
                  <a:schemeClr val="tx1"/>
                </a:solidFill>
              </a:rPr>
              <a:t>costo de una revisión humana</a:t>
            </a:r>
            <a:endParaRPr lang="en-US" sz="1400" dirty="0"/>
          </a:p>
        </p:txBody>
      </p:sp>
      <p:sp>
        <p:nvSpPr>
          <p:cNvPr id="10" name="Text 7"/>
          <p:cNvSpPr txBox="1"/>
          <p:nvPr/>
        </p:nvSpPr>
        <p:spPr>
          <a:xfrm>
            <a:off x="548640" y="4709160"/>
            <a:ext cx="548640" cy="82296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c</a:t>
            </a:r>
            <a:pPr indent="0" marL="0">
              <a:buNone/>
            </a:pPr>
            <a:r>
              <a:rPr lang="en-US" sz="2600" b="1" baseline="-40000" dirty="0">
                <a:solidFill>
                  <a:schemeClr val="accent1"/>
                </a:solidFill>
                <a:latin typeface="Cambria" pitchFamily="34" charset="0"/>
                <a:ea typeface="Cambria" pitchFamily="34" charset="-122"/>
                <a:cs typeface="Cambria" pitchFamily="34" charset="-120"/>
              </a:rPr>
              <a:t>e</a:t>
            </a:r>
            <a:endParaRPr lang="en-US" sz="2600" dirty="0"/>
          </a:p>
        </p:txBody>
      </p:sp>
      <p:sp>
        <p:nvSpPr>
          <p:cNvPr id="11" name="Text 8"/>
          <p:cNvSpPr txBox="1"/>
          <p:nvPr/>
        </p:nvSpPr>
        <p:spPr>
          <a:xfrm>
            <a:off x="1143000" y="4709160"/>
            <a:ext cx="2194560" cy="822960"/>
          </a:xfrm>
          <a:prstGeom prst="rect">
            <a:avLst/>
          </a:prstGeom>
          <a:noFill/>
          <a:ln/>
        </p:spPr>
        <p:txBody>
          <a:bodyPr wrap="square" lIns="0" tIns="0" rIns="0" bIns="0" rtlCol="0" anchor="ctr"/>
          <a:lstStyle/>
          <a:p>
            <a:pPr indent="0" marL="0">
              <a:buNone/>
            </a:pPr>
            <a:r>
              <a:rPr lang="en-US" sz="1400" dirty="0">
                <a:solidFill>
                  <a:schemeClr val="tx1"/>
                </a:solidFill>
              </a:rPr>
              <a:t>costo de un error que llega al paciente</a:t>
            </a:r>
            <a:endParaRPr lang="en-US" sz="1400" dirty="0"/>
          </a:p>
        </p:txBody>
      </p:sp>
      <p:sp>
        <p:nvSpPr>
          <p:cNvPr id="12" name="Text 9"/>
          <p:cNvSpPr txBox="1"/>
          <p:nvPr/>
        </p:nvSpPr>
        <p:spPr>
          <a:xfrm>
            <a:off x="3474720" y="4709160"/>
            <a:ext cx="548640" cy="82296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ρ</a:t>
            </a:r>
            <a:endParaRPr lang="en-US" sz="2600" dirty="0"/>
          </a:p>
        </p:txBody>
      </p:sp>
      <p:sp>
        <p:nvSpPr>
          <p:cNvPr id="13" name="Text 10"/>
          <p:cNvSpPr txBox="1"/>
          <p:nvPr/>
        </p:nvSpPr>
        <p:spPr>
          <a:xfrm>
            <a:off x="4069080" y="4709160"/>
            <a:ext cx="2194560" cy="822960"/>
          </a:xfrm>
          <a:prstGeom prst="rect">
            <a:avLst/>
          </a:prstGeom>
          <a:noFill/>
          <a:ln/>
        </p:spPr>
        <p:txBody>
          <a:bodyPr wrap="square" lIns="0" tIns="0" rIns="0" bIns="0" rtlCol="0" anchor="ctr"/>
          <a:lstStyle/>
          <a:p>
            <a:pPr indent="0" marL="0">
              <a:buNone/>
            </a:pPr>
            <a:r>
              <a:rPr lang="en-US" sz="1400" dirty="0">
                <a:solidFill>
                  <a:schemeClr val="tx1"/>
                </a:solidFill>
              </a:rPr>
              <a:t>fracción de errores que el revisor detecta</a:t>
            </a:r>
            <a:endParaRPr lang="en-US" sz="1400" dirty="0"/>
          </a:p>
        </p:txBody>
      </p:sp>
      <p:sp>
        <p:nvSpPr>
          <p:cNvPr id="14" name="Text 11"/>
          <p:cNvSpPr txBox="1"/>
          <p:nvPr/>
        </p:nvSpPr>
        <p:spPr>
          <a:xfrm>
            <a:off x="6766560" y="1417320"/>
            <a:ext cx="4846320" cy="411480"/>
          </a:xfrm>
          <a:prstGeom prst="rect">
            <a:avLst/>
          </a:prstGeom>
          <a:noFill/>
          <a:ln/>
        </p:spPr>
        <p:txBody>
          <a:bodyPr wrap="square" lIns="0" tIns="0" rIns="0" bIns="0" rtlCol="0" anchor="t"/>
          <a:lstStyle/>
          <a:p>
            <a:pPr indent="0" marL="0">
              <a:buNone/>
            </a:pPr>
            <a:r>
              <a:rPr lang="en-US" sz="1700" b="1" dirty="0">
                <a:solidFill>
                  <a:schemeClr val="tx2"/>
                </a:solidFill>
              </a:rPr>
              <a:t>Si revisar cuesta ¼ de un error (c</a:t>
            </a:r>
            <a:pPr indent="0" marL="0">
              <a:buNone/>
            </a:pPr>
            <a:r>
              <a:rPr lang="en-US" sz="1700" b="1" baseline="-40000" dirty="0">
                <a:solidFill>
                  <a:schemeClr val="tx2"/>
                </a:solidFill>
              </a:rPr>
              <a:t>h</a:t>
            </a:r>
            <a:pPr indent="0" marL="0">
              <a:buNone/>
            </a:pPr>
            <a:r>
              <a:rPr lang="en-US" sz="1700" b="1" dirty="0">
                <a:solidFill>
                  <a:schemeClr val="tx2"/>
                </a:solidFill>
              </a:rPr>
              <a:t>/c</a:t>
            </a:r>
            <a:pPr indent="0" marL="0">
              <a:buNone/>
            </a:pPr>
            <a:r>
              <a:rPr lang="en-US" sz="1700" b="1" baseline="-40000" dirty="0">
                <a:solidFill>
                  <a:schemeClr val="tx2"/>
                </a:solidFill>
              </a:rPr>
              <a:t>e</a:t>
            </a:r>
            <a:pPr indent="0" marL="0">
              <a:buNone/>
            </a:pPr>
            <a:r>
              <a:rPr lang="en-US" sz="1700" b="1" dirty="0">
                <a:solidFill>
                  <a:schemeClr val="tx2"/>
                </a:solidFill>
              </a:rPr>
              <a:t> = 0,25):</a:t>
            </a:r>
            <a:endParaRPr lang="en-US" sz="1700" dirty="0"/>
          </a:p>
        </p:txBody>
      </p:sp>
      <p:sp>
        <p:nvSpPr>
          <p:cNvPr id="15" name="caso-rho-1"/>
          <p:cNvSpPr/>
          <p:nvPr/>
        </p:nvSpPr>
        <p:spPr>
          <a:xfrm>
            <a:off x="6766560" y="1965960"/>
            <a:ext cx="484632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Text 13"/>
          <p:cNvSpPr txBox="1"/>
          <p:nvPr/>
        </p:nvSpPr>
        <p:spPr>
          <a:xfrm>
            <a:off x="7040880" y="2103120"/>
            <a:ext cx="173736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75 %</a:t>
            </a:r>
            <a:endParaRPr lang="en-US" sz="4400" dirty="0"/>
          </a:p>
        </p:txBody>
      </p:sp>
      <p:sp>
        <p:nvSpPr>
          <p:cNvPr id="17" name="Text 14"/>
          <p:cNvSpPr txBox="1"/>
          <p:nvPr/>
        </p:nvSpPr>
        <p:spPr>
          <a:xfrm>
            <a:off x="8915400" y="2148840"/>
            <a:ext cx="2560320" cy="1188720"/>
          </a:xfrm>
          <a:prstGeom prst="rect">
            <a:avLst/>
          </a:prstGeom>
          <a:noFill/>
          <a:ln/>
        </p:spPr>
        <p:txBody>
          <a:bodyPr wrap="square" lIns="0" tIns="0" rIns="0" bIns="0" rtlCol="0" anchor="t"/>
          <a:lstStyle/>
          <a:p>
            <a:pPr indent="0" marL="0">
              <a:buNone/>
            </a:pPr>
            <a:r>
              <a:rPr lang="en-US" sz="1500" b="1" dirty="0">
                <a:solidFill>
                  <a:schemeClr val="tx1"/>
                </a:solidFill>
              </a:rPr>
              <a:t>ρ = 1 (revisor atento)</a:t>
            </a:r>
            <a:endParaRPr lang="en-US" sz="1500" dirty="0"/>
          </a:p>
          <a:p>
            <a:pPr indent="0" marL="0">
              <a:buNone/>
            </a:pPr>
            <a:r>
              <a:rPr lang="en-US" sz="1500" dirty="0">
                <a:solidFill>
                  <a:schemeClr val="tx1"/>
                </a:solidFill>
              </a:rPr>
              <a:t>Se escala todo lo que tenga menos de 75 % de confianza.</a:t>
            </a:r>
            <a:endParaRPr lang="en-US" sz="1500" dirty="0"/>
          </a:p>
        </p:txBody>
      </p:sp>
      <p:sp>
        <p:nvSpPr>
          <p:cNvPr id="18" name="caso-rho-05"/>
          <p:cNvSpPr/>
          <p:nvPr/>
        </p:nvSpPr>
        <p:spPr>
          <a:xfrm>
            <a:off x="6766560" y="3657600"/>
            <a:ext cx="484632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9" name="Text 16"/>
          <p:cNvSpPr txBox="1"/>
          <p:nvPr/>
        </p:nvSpPr>
        <p:spPr>
          <a:xfrm>
            <a:off x="7040880" y="3931920"/>
            <a:ext cx="1737360" cy="91440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50 %</a:t>
            </a:r>
            <a:endParaRPr lang="en-US" sz="4400" dirty="0"/>
          </a:p>
        </p:txBody>
      </p:sp>
      <p:sp>
        <p:nvSpPr>
          <p:cNvPr id="20" name="Text 17"/>
          <p:cNvSpPr txBox="1"/>
          <p:nvPr/>
        </p:nvSpPr>
        <p:spPr>
          <a:xfrm>
            <a:off x="8915400" y="3840480"/>
            <a:ext cx="2560320" cy="1188720"/>
          </a:xfrm>
          <a:prstGeom prst="rect">
            <a:avLst/>
          </a:prstGeom>
          <a:noFill/>
          <a:ln/>
        </p:spPr>
        <p:txBody>
          <a:bodyPr wrap="square" lIns="0" tIns="0" rIns="0" bIns="0" rtlCol="0" anchor="t"/>
          <a:lstStyle/>
          <a:p>
            <a:pPr indent="0" marL="0">
              <a:buNone/>
            </a:pPr>
            <a:r>
              <a:rPr lang="en-US" sz="1500" b="1" dirty="0">
                <a:solidFill>
                  <a:schemeClr val="tx1"/>
                </a:solidFill>
              </a:rPr>
              <a:t>ρ = 0,5 (revisor que solo firma)</a:t>
            </a:r>
            <a:endParaRPr lang="en-US" sz="1500" dirty="0"/>
          </a:p>
          <a:p>
            <a:pPr indent="0" marL="0">
              <a:buNone/>
            </a:pPr>
            <a:r>
              <a:rPr lang="en-US" sz="1500" dirty="0">
                <a:solidFill>
                  <a:schemeClr val="tx1"/>
                </a:solidFill>
              </a:rPr>
              <a:t>Revisar deja de compensar: la supervisión es nominal.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Si el revisor solo firma, el error vuelve</a:t>
            </a:r>
            <a:endParaRPr lang="en-US" sz="3000" dirty="0"/>
          </a:p>
        </p:txBody>
      </p:sp>
      <p:graphicFrame>
        <p:nvGraphicFramePr>
          <p:cNvPr id="3" name="grafico-rho" descr=""/>
          <p:cNvGraphicFramePr/>
          <p:nvPr/>
        </p:nvGraphicFramePr>
        <p:xfrm>
          <a:off x="548640" y="1371600"/>
          <a:ext cx="6949440" cy="3749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55280" y="1417320"/>
            <a:ext cx="3657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35 %</a:t>
            </a:r>
            <a:endParaRPr lang="en-US" sz="3200" dirty="0"/>
          </a:p>
        </p:txBody>
      </p:sp>
      <p:sp>
        <p:nvSpPr>
          <p:cNvPr id="5" name="Text 2"/>
          <p:cNvSpPr txBox="1"/>
          <p:nvPr/>
        </p:nvSpPr>
        <p:spPr>
          <a:xfrm>
            <a:off x="7955280" y="2103120"/>
            <a:ext cx="3657600" cy="457200"/>
          </a:xfrm>
          <a:prstGeom prst="rect">
            <a:avLst/>
          </a:prstGeom>
          <a:noFill/>
          <a:ln/>
        </p:spPr>
        <p:txBody>
          <a:bodyPr wrap="square" lIns="0" tIns="0" rIns="0" bIns="0" rtlCol="0" anchor="t"/>
          <a:lstStyle/>
          <a:p>
            <a:pPr indent="0" marL="0">
              <a:buNone/>
            </a:pPr>
            <a:r>
              <a:rPr lang="en-US" sz="1400" dirty="0">
                <a:solidFill>
                  <a:schemeClr val="accent5"/>
                </a:solidFill>
              </a:rPr>
              <a:t>de los casos se escalan a un profesional</a:t>
            </a:r>
            <a:endParaRPr lang="en-US" sz="1400" dirty="0"/>
          </a:p>
        </p:txBody>
      </p:sp>
      <p:sp>
        <p:nvSpPr>
          <p:cNvPr id="6" name="Text 3"/>
          <p:cNvSpPr txBox="1"/>
          <p:nvPr/>
        </p:nvSpPr>
        <p:spPr>
          <a:xfrm>
            <a:off x="7955280" y="2788920"/>
            <a:ext cx="365760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18,1 % → 5,3 %</a:t>
            </a:r>
            <a:endParaRPr lang="en-US" sz="3200" dirty="0"/>
          </a:p>
        </p:txBody>
      </p:sp>
      <p:sp>
        <p:nvSpPr>
          <p:cNvPr id="7" name="Text 4"/>
          <p:cNvSpPr txBox="1"/>
          <p:nvPr/>
        </p:nvSpPr>
        <p:spPr>
          <a:xfrm>
            <a:off x="7955280" y="3474720"/>
            <a:ext cx="3657600" cy="457200"/>
          </a:xfrm>
          <a:prstGeom prst="rect">
            <a:avLst/>
          </a:prstGeom>
          <a:noFill/>
          <a:ln/>
        </p:spPr>
        <p:txBody>
          <a:bodyPr wrap="square" lIns="0" tIns="0" rIns="0" bIns="0" rtlCol="0" anchor="t"/>
          <a:lstStyle/>
          <a:p>
            <a:pPr indent="0" marL="0">
              <a:buNone/>
            </a:pPr>
            <a:r>
              <a:rPr lang="en-US" sz="1400" dirty="0">
                <a:solidFill>
                  <a:schemeClr val="accent5"/>
                </a:solidFill>
              </a:rPr>
              <a:t>error que llega al paciente con el umbral óptimo</a:t>
            </a:r>
            <a:endParaRPr lang="en-US" sz="1400" dirty="0"/>
          </a:p>
        </p:txBody>
      </p:sp>
      <p:sp>
        <p:nvSpPr>
          <p:cNvPr id="8" name="Text 5"/>
          <p:cNvSpPr txBox="1"/>
          <p:nvPr/>
        </p:nvSpPr>
        <p:spPr>
          <a:xfrm>
            <a:off x="7955280" y="4160520"/>
            <a:ext cx="3657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0,77 vs. 0,75</a:t>
            </a:r>
            <a:endParaRPr lang="en-US" sz="3200" dirty="0"/>
          </a:p>
        </p:txBody>
      </p:sp>
      <p:sp>
        <p:nvSpPr>
          <p:cNvPr id="9" name="Text 6"/>
          <p:cNvSpPr txBox="1"/>
          <p:nvPr/>
        </p:nvSpPr>
        <p:spPr>
          <a:xfrm>
            <a:off x="7955280" y="4846320"/>
            <a:ext cx="3657600" cy="457200"/>
          </a:xfrm>
          <a:prstGeom prst="rect">
            <a:avLst/>
          </a:prstGeom>
          <a:noFill/>
          <a:ln/>
        </p:spPr>
        <p:txBody>
          <a:bodyPr wrap="square" lIns="0" tIns="0" rIns="0" bIns="0" rtlCol="0" anchor="t"/>
          <a:lstStyle/>
          <a:p>
            <a:pPr indent="0" marL="0">
              <a:buNone/>
            </a:pPr>
            <a:r>
              <a:rPr lang="en-US" sz="1400" dirty="0">
                <a:solidFill>
                  <a:schemeClr val="accent5"/>
                </a:solidFill>
              </a:rPr>
              <a:t>umbral óptimo hallado vs. ecuación (3)</a:t>
            </a:r>
            <a:endParaRPr lang="en-US" sz="1400" dirty="0"/>
          </a:p>
        </p:txBody>
      </p:sp>
      <p:sp>
        <p:nvSpPr>
          <p:cNvPr id="10" name="Text 7"/>
          <p:cNvSpPr txBox="1"/>
          <p:nvPr/>
        </p:nvSpPr>
        <p:spPr>
          <a:xfrm>
            <a:off x="7955280" y="5486400"/>
            <a:ext cx="3657600" cy="685800"/>
          </a:xfrm>
          <a:prstGeom prst="rect">
            <a:avLst/>
          </a:prstGeom>
          <a:noFill/>
          <a:ln/>
        </p:spPr>
        <p:txBody>
          <a:bodyPr wrap="square" lIns="0" tIns="0" rIns="0" bIns="0" rtlCol="0" anchor="t"/>
          <a:lstStyle/>
          <a:p>
            <a:pPr indent="0" marL="0">
              <a:buNone/>
            </a:pPr>
            <a:r>
              <a:rPr lang="en-US" sz="1200" i="1" dirty="0">
                <a:solidFill>
                  <a:schemeClr val="accent5"/>
                </a:solidFill>
              </a:rPr>
              <a:t>El Reglamento europeo de IA (art. 14) exige que el supervisor pueda advertir el sesgo de automatización y anular la salida.</a:t>
            </a:r>
            <a:endParaRPr lang="en-US" sz="1200" dirty="0"/>
          </a:p>
        </p:txBody>
      </p:sp>
      <p:sp>
        <p:nvSpPr>
          <p:cNvPr id="11" name="como-leer"/>
          <p:cNvSpPr/>
          <p:nvPr/>
        </p:nvSpPr>
        <p:spPr>
          <a:xfrm>
            <a:off x="548640" y="5257800"/>
            <a:ext cx="6949440" cy="1051560"/>
          </a:xfrm>
          <a:prstGeom prst="roundRect">
            <a:avLst>
              <a:gd name="adj" fmla="val 8696"/>
            </a:avLst>
          </a:prstGeom>
          <a:solidFill>
            <a:schemeClr val="accent1">
              <a:alpha val="10000"/>
            </a:schemeClr>
          </a:solidFill>
          <a:ln/>
        </p:spPr>
      </p:sp>
      <p:sp>
        <p:nvSpPr>
          <p:cNvPr id="12" name="Text 9"/>
          <p:cNvSpPr txBox="1"/>
          <p:nvPr/>
        </p:nvSpPr>
        <p:spPr>
          <a:xfrm>
            <a:off x="731520" y="5349240"/>
            <a:ext cx="6583680" cy="868680"/>
          </a:xfrm>
          <a:prstGeom prst="rect">
            <a:avLst/>
          </a:prstGeom>
          <a:noFill/>
          <a:ln/>
        </p:spPr>
        <p:txBody>
          <a:bodyPr wrap="square" lIns="0" tIns="0" rIns="0" bIns="0" rtlCol="0" anchor="t"/>
          <a:lstStyle/>
          <a:p>
            <a:pPr indent="0" marL="0">
              <a:buNone/>
            </a:pPr>
            <a:r>
              <a:rPr lang="en-US" sz="1200" b="1" dirty="0">
                <a:solidFill>
                  <a:schemeClr val="accent1"/>
                </a:solidFill>
              </a:rPr>
              <a:t>Cómo leer el gráfico</a:t>
            </a:r>
            <a:endParaRPr lang="en-US" sz="1400" dirty="0"/>
          </a:p>
          <a:p>
            <a:pPr indent="0" marL="0">
              <a:buNone/>
            </a:pPr>
            <a:r>
              <a:rPr lang="en-US" sz="1300" dirty="0">
                <a:solidFill>
                  <a:schemeClr val="tx1"/>
                </a:solidFill>
              </a:rPr>
              <a:t>La barra gris es el sistema sin revisión humana. Las demás aplican la ecuación (3) con un umbral de 0,75 y revisores cada vez menos atentos: ρ es la fracción de errores que el revisor detecta. Cuanto menor es ρ, más se acerca el error al nivel sin supervisión.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Sesgos · Cerrar una brecha abre otra</a:t>
            </a:r>
            <a:endParaRPr lang="en-US" sz="3000" dirty="0"/>
          </a:p>
        </p:txBody>
      </p:sp>
      <p:graphicFrame>
        <p:nvGraphicFramePr>
          <p:cNvPr id="3" name="grafico-equidad" descr=""/>
          <p:cNvGraphicFramePr/>
          <p:nvPr/>
        </p:nvGraphicFramePr>
        <p:xfrm>
          <a:off x="548640" y="1371600"/>
          <a:ext cx="6583680" cy="3611880"/>
        </p:xfrm>
        <a:graphic xmlns:a="http://schemas.openxmlformats.org/drawingml/2006/main">
          <a:graphicData uri="http://schemas.openxmlformats.org/drawingml/2006/chart">
            <c:chart xmlns:c="http://schemas.openxmlformats.org/drawingml/2006/chart" r:id="rId1"/>
          </a:graphicData>
        </a:graphic>
      </p:graphicFrame>
      <p:sp>
        <p:nvSpPr>
          <p:cNvPr id="4" name="como-leer"/>
          <p:cNvSpPr/>
          <p:nvPr/>
        </p:nvSpPr>
        <p:spPr>
          <a:xfrm>
            <a:off x="548640" y="5120640"/>
            <a:ext cx="6583680" cy="1188720"/>
          </a:xfrm>
          <a:prstGeom prst="roundRect">
            <a:avLst>
              <a:gd name="adj" fmla="val 7692"/>
            </a:avLst>
          </a:prstGeom>
          <a:solidFill>
            <a:schemeClr val="accent1">
              <a:alpha val="10000"/>
            </a:schemeClr>
          </a:solidFill>
          <a:ln/>
        </p:spPr>
      </p:sp>
      <p:sp>
        <p:nvSpPr>
          <p:cNvPr id="5" name="Text 2"/>
          <p:cNvSpPr txBox="1"/>
          <p:nvPr/>
        </p:nvSpPr>
        <p:spPr>
          <a:xfrm>
            <a:off x="731520" y="5212080"/>
            <a:ext cx="6217920" cy="1005840"/>
          </a:xfrm>
          <a:prstGeom prst="rect">
            <a:avLst/>
          </a:prstGeom>
          <a:noFill/>
          <a:ln/>
        </p:spPr>
        <p:txBody>
          <a:bodyPr wrap="square" lIns="0" tIns="0" rIns="0" bIns="0" rtlCol="0" anchor="t"/>
          <a:lstStyle/>
          <a:p>
            <a:pPr indent="0" marL="0">
              <a:buNone/>
            </a:pPr>
            <a:r>
              <a:rPr lang="en-US" sz="1200" b="1" dirty="0">
                <a:solidFill>
                  <a:schemeClr val="accent1"/>
                </a:solidFill>
              </a:rPr>
              <a:t>Cómo leer el gráfico</a:t>
            </a:r>
            <a:endParaRPr lang="en-US" sz="1400" dirty="0"/>
          </a:p>
          <a:p>
            <a:pPr indent="0" marL="0">
              <a:buNone/>
            </a:pPr>
            <a:r>
              <a:rPr lang="en-US" sz="1300" dirty="0">
                <a:solidFill>
                  <a:schemeClr val="tx1"/>
                </a:solidFill>
              </a:rPr>
              <a:t>Cada barra es la brecha entre los dos grupos: cuanto más baja, más parejo es el trato. Gris: el mismo umbral para todos. Verde: un umbral por grupo que obliga a igualar los errores. La brecha de errores baja a la mitad, pero la de acierto de las alarmas sube.</a:t>
            </a:r>
            <a:endParaRPr lang="en-US" sz="1400" dirty="0"/>
          </a:p>
        </p:txBody>
      </p:sp>
      <p:sp>
        <p:nvSpPr>
          <p:cNvPr id="6" name="que-son-grupos"/>
          <p:cNvSpPr/>
          <p:nvPr/>
        </p:nvSpPr>
        <p:spPr>
          <a:xfrm>
            <a:off x="7498080" y="1371600"/>
            <a:ext cx="4114800" cy="1783080"/>
          </a:xfrm>
          <a:prstGeom prst="roundRect">
            <a:avLst>
              <a:gd name="adj" fmla="val 6154"/>
            </a:avLst>
          </a:prstGeom>
          <a:solidFill>
            <a:schemeClr val="tx2"/>
          </a:solidFill>
          <a:ln/>
          <a:effectLst>
            <a:outerShdw sx="100000" sy="100000" kx="0" ky="0" algn="bl" rotWithShape="0" blurRad="101600" dist="25400" dir="5400000">
              <a:srgbClr val="0E2A3B">
                <a:alpha val="12000"/>
              </a:srgbClr>
            </a:outerShdw>
          </a:effectLst>
        </p:spPr>
      </p:sp>
      <p:sp>
        <p:nvSpPr>
          <p:cNvPr id="7" name="Text 4"/>
          <p:cNvSpPr txBox="1"/>
          <p:nvPr/>
        </p:nvSpPr>
        <p:spPr>
          <a:xfrm>
            <a:off x="7726680" y="1508760"/>
            <a:ext cx="3703320" cy="15544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¿Qué son los grupos?</a:t>
            </a:r>
            <a:endParaRPr lang="en-US" sz="1400" dirty="0"/>
          </a:p>
          <a:p>
            <a:pPr indent="0" marL="0">
              <a:spcAft>
                <a:spcPts val="400"/>
              </a:spcAft>
              <a:buNone/>
            </a:pPr>
            <a:r>
              <a:rPr lang="en-US" sz="1400" dirty="0">
                <a:solidFill>
                  <a:schemeClr val="accent3"/>
                </a:solidFill>
              </a:rPr>
              <a:t>Pacientes separados por un atributo sensible, como el estrato o el grupo étnico. En la demo: grupo 0 y grupo 1. El modelo no ve el grupo, pero sí la zona de residencia, que lo delata (un proxy).</a:t>
            </a:r>
            <a:endParaRPr lang="en-US" sz="1400" dirty="0"/>
          </a:p>
        </p:txBody>
      </p:sp>
      <p:sp>
        <p:nvSpPr>
          <p:cNvPr id="8" name="metrica-1"/>
          <p:cNvSpPr/>
          <p:nvPr/>
        </p:nvSpPr>
        <p:spPr>
          <a:xfrm>
            <a:off x="7498080" y="3456432"/>
            <a:ext cx="411480" cy="411480"/>
          </a:xfrm>
          <a:prstGeom prst="ellipse">
            <a:avLst/>
          </a:prstGeom>
          <a:solidFill>
            <a:srgbClr val="5B6B76"/>
          </a:solidFill>
          <a:ln/>
        </p:spPr>
      </p:sp>
      <p:sp>
        <p:nvSpPr>
          <p:cNvPr id="9" name="Text 6"/>
          <p:cNvSpPr txBox="1"/>
          <p:nvPr/>
        </p:nvSpPr>
        <p:spPr>
          <a:xfrm>
            <a:off x="7498080" y="345643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8046720" y="3383280"/>
            <a:ext cx="3566160" cy="731520"/>
          </a:xfrm>
          <a:prstGeom prst="rect">
            <a:avLst/>
          </a:prstGeom>
          <a:noFill/>
          <a:ln/>
        </p:spPr>
        <p:txBody>
          <a:bodyPr wrap="square" lIns="0" tIns="0" rIns="0" bIns="0" rtlCol="0" anchor="t"/>
          <a:lstStyle/>
          <a:p>
            <a:pPr indent="0" marL="0">
              <a:buNone/>
            </a:pPr>
            <a:r>
              <a:rPr lang="en-US" sz="1400" b="1" dirty="0">
                <a:solidFill>
                  <a:schemeClr val="tx2"/>
                </a:solidFill>
              </a:rPr>
              <a:t>Paridad demográfica</a:t>
            </a:r>
            <a:endParaRPr lang="en-US" sz="1400" dirty="0"/>
          </a:p>
          <a:p>
            <a:pPr indent="0" marL="0">
              <a:buNone/>
            </a:pPr>
            <a:r>
              <a:rPr lang="en-US" sz="1300" dirty="0">
                <a:solidFill>
                  <a:schemeClr val="tx1"/>
                </a:solidFill>
              </a:rPr>
              <a:t>¿Marca como alto riesgo a la misma proporción en cada grupo?</a:t>
            </a:r>
            <a:endParaRPr lang="en-US" sz="1400" dirty="0"/>
          </a:p>
        </p:txBody>
      </p:sp>
      <p:sp>
        <p:nvSpPr>
          <p:cNvPr id="11" name="metrica-2"/>
          <p:cNvSpPr/>
          <p:nvPr/>
        </p:nvSpPr>
        <p:spPr>
          <a:xfrm>
            <a:off x="7498080" y="4233672"/>
            <a:ext cx="411480" cy="411480"/>
          </a:xfrm>
          <a:prstGeom prst="ellipse">
            <a:avLst/>
          </a:prstGeom>
          <a:solidFill>
            <a:srgbClr val="127C80"/>
          </a:solidFill>
          <a:ln/>
        </p:spPr>
      </p:sp>
      <p:sp>
        <p:nvSpPr>
          <p:cNvPr id="12" name="Text 9"/>
          <p:cNvSpPr txBox="1"/>
          <p:nvPr/>
        </p:nvSpPr>
        <p:spPr>
          <a:xfrm>
            <a:off x="7498080" y="42336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0"/>
          <p:cNvSpPr txBox="1"/>
          <p:nvPr/>
        </p:nvSpPr>
        <p:spPr>
          <a:xfrm>
            <a:off x="8046720" y="4160520"/>
            <a:ext cx="3566160" cy="731520"/>
          </a:xfrm>
          <a:prstGeom prst="rect">
            <a:avLst/>
          </a:prstGeom>
          <a:noFill/>
          <a:ln/>
        </p:spPr>
        <p:txBody>
          <a:bodyPr wrap="square" lIns="0" tIns="0" rIns="0" bIns="0" rtlCol="0" anchor="t"/>
          <a:lstStyle/>
          <a:p>
            <a:pPr indent="0" marL="0">
              <a:buNone/>
            </a:pPr>
            <a:r>
              <a:rPr lang="en-US" sz="1400" b="1" dirty="0">
                <a:solidFill>
                  <a:schemeClr val="tx2"/>
                </a:solidFill>
              </a:rPr>
              <a:t>Igualdad de errores (ec. 4)</a:t>
            </a:r>
            <a:endParaRPr lang="en-US" sz="1400" dirty="0"/>
          </a:p>
          <a:p>
            <a:pPr indent="0" marL="0">
              <a:buNone/>
            </a:pPr>
            <a:r>
              <a:rPr lang="en-US" sz="1300" dirty="0">
                <a:solidFill>
                  <a:schemeClr val="tx1"/>
                </a:solidFill>
              </a:rPr>
              <a:t>¿Se equivoca igual con ambos grupos?</a:t>
            </a:r>
            <a:endParaRPr lang="en-US" sz="1400" dirty="0"/>
          </a:p>
        </p:txBody>
      </p:sp>
      <p:sp>
        <p:nvSpPr>
          <p:cNvPr id="14" name="metrica-3"/>
          <p:cNvSpPr/>
          <p:nvPr/>
        </p:nvSpPr>
        <p:spPr>
          <a:xfrm>
            <a:off x="7498080" y="5010912"/>
            <a:ext cx="411480" cy="411480"/>
          </a:xfrm>
          <a:prstGeom prst="ellipse">
            <a:avLst/>
          </a:prstGeom>
          <a:solidFill>
            <a:srgbClr val="E05A3A"/>
          </a:solidFill>
          <a:ln/>
        </p:spPr>
      </p:sp>
      <p:sp>
        <p:nvSpPr>
          <p:cNvPr id="15" name="Text 12"/>
          <p:cNvSpPr txBox="1"/>
          <p:nvPr/>
        </p:nvSpPr>
        <p:spPr>
          <a:xfrm>
            <a:off x="7498080" y="501091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3"/>
          <p:cNvSpPr txBox="1"/>
          <p:nvPr/>
        </p:nvSpPr>
        <p:spPr>
          <a:xfrm>
            <a:off x="8046720" y="4937760"/>
            <a:ext cx="3566160" cy="731520"/>
          </a:xfrm>
          <a:prstGeom prst="rect">
            <a:avLst/>
          </a:prstGeom>
          <a:noFill/>
          <a:ln/>
        </p:spPr>
        <p:txBody>
          <a:bodyPr wrap="square" lIns="0" tIns="0" rIns="0" bIns="0" rtlCol="0" anchor="t"/>
          <a:lstStyle/>
          <a:p>
            <a:pPr indent="0" marL="0">
              <a:buNone/>
            </a:pPr>
            <a:r>
              <a:rPr lang="en-US" sz="1400" b="1" dirty="0">
                <a:solidFill>
                  <a:schemeClr val="tx2"/>
                </a:solidFill>
              </a:rPr>
              <a:t>Acierto de alarmas</a:t>
            </a:r>
            <a:endParaRPr lang="en-US" sz="1400" dirty="0"/>
          </a:p>
          <a:p>
            <a:pPr indent="0" marL="0">
              <a:buNone/>
            </a:pPr>
            <a:r>
              <a:rPr lang="en-US" sz="1300" dirty="0">
                <a:solidFill>
                  <a:schemeClr val="tx1"/>
                </a:solidFill>
              </a:rPr>
              <a:t>¿Sus alertas aciertan igual en ambos grupos?</a:t>
            </a:r>
            <a:endParaRPr lang="en-US" sz="1400" dirty="0"/>
          </a:p>
        </p:txBody>
      </p:sp>
      <p:sp>
        <p:nvSpPr>
          <p:cNvPr id="17" name="Text 14"/>
          <p:cNvSpPr txBox="1"/>
          <p:nvPr/>
        </p:nvSpPr>
        <p:spPr>
          <a:xfrm>
            <a:off x="7498080" y="5760720"/>
            <a:ext cx="4114800" cy="502920"/>
          </a:xfrm>
          <a:prstGeom prst="rect">
            <a:avLst/>
          </a:prstGeom>
          <a:noFill/>
          <a:ln/>
        </p:spPr>
        <p:txBody>
          <a:bodyPr wrap="square" lIns="0" tIns="0" rIns="0" bIns="0" rtlCol="0" anchor="t"/>
          <a:lstStyle/>
          <a:p>
            <a:pPr indent="0" marL="0">
              <a:buNone/>
            </a:pPr>
            <a:r>
              <a:rPr lang="en-US" sz="1200" i="1" dirty="0">
                <a:solidFill>
                  <a:schemeClr val="accent5"/>
                </a:solidFill>
              </a:rPr>
              <a:t>Con tasas base distintas no se pueden igualar todas (Kleinberg et al., 2017).</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Discusión · Cuatro trade-offs de frontera</a:t>
            </a:r>
            <a:endParaRPr lang="en-US" sz="3000" dirty="0"/>
          </a:p>
        </p:txBody>
      </p:sp>
      <p:sp>
        <p:nvSpPr>
          <p:cNvPr id="3" name="tradeoff-1"/>
          <p:cNvSpPr/>
          <p:nvPr/>
        </p:nvSpPr>
        <p:spPr>
          <a:xfrm>
            <a:off x="548640" y="1417320"/>
            <a:ext cx="5394960" cy="2103120"/>
          </a:xfrm>
          <a:prstGeom prst="roundRect">
            <a:avLst>
              <a:gd name="adj" fmla="val 5217"/>
            </a:avLst>
          </a:prstGeom>
          <a:solidFill>
            <a:schemeClr val="bg2"/>
          </a:solidFill>
          <a:ln/>
          <a:effectLst>
            <a:outerShdw sx="100000" sy="100000" kx="0" ky="0" algn="bl" rotWithShape="0" blurRad="101600" dist="25400" dir="5400000">
              <a:srgbClr val="0E2A3B">
                <a:alpha val="12000"/>
              </a:srgbClr>
            </a:outerShdw>
          </a:effectLst>
        </p:spPr>
      </p:sp>
      <p:sp>
        <p:nvSpPr>
          <p:cNvPr id="4" name="circulo-tradeoff1"/>
          <p:cNvSpPr/>
          <p:nvPr/>
        </p:nvSpPr>
        <p:spPr>
          <a:xfrm>
            <a:off x="868680" y="1783080"/>
            <a:ext cx="822960" cy="822960"/>
          </a:xfrm>
          <a:prstGeom prst="ellipse">
            <a:avLst/>
          </a:prstGeom>
          <a:solidFill>
            <a:srgbClr val="5B6B76"/>
          </a:solidFill>
          <a:ln/>
        </p:spPr>
      </p:sp>
      <p:pic>
        <p:nvPicPr>
          <p:cNvPr id="5" name="icono-tradeoff1" descr="preencoded.png">    </p:cNvPr>
          <p:cNvPicPr>
            <a:picLocks noChangeAspect="1"/>
          </p:cNvPicPr>
          <p:nvPr/>
        </p:nvPicPr>
        <p:blipFill>
          <a:blip r:embed="rId1"/>
          <a:stretch>
            <a:fillRect/>
          </a:stretch>
        </p:blipFill>
        <p:spPr>
          <a:xfrm>
            <a:off x="1066190" y="1980590"/>
            <a:ext cx="427939" cy="427939"/>
          </a:xfrm>
          <a:prstGeom prst="rect">
            <a:avLst/>
          </a:prstGeom>
        </p:spPr>
      </p:pic>
      <p:sp>
        <p:nvSpPr>
          <p:cNvPr id="6" name="Text 3"/>
          <p:cNvSpPr txBox="1"/>
          <p:nvPr/>
        </p:nvSpPr>
        <p:spPr>
          <a:xfrm>
            <a:off x="1920240" y="1691640"/>
            <a:ext cx="384048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Más modelos ≠ más verdad</a:t>
            </a:r>
            <a:endParaRPr lang="en-US" sz="2000" dirty="0"/>
          </a:p>
        </p:txBody>
      </p:sp>
      <p:sp>
        <p:nvSpPr>
          <p:cNvPr id="7" name="Text 4"/>
          <p:cNvSpPr txBox="1"/>
          <p:nvPr/>
        </p:nvSpPr>
        <p:spPr>
          <a:xfrm>
            <a:off x="1920240" y="2240280"/>
            <a:ext cx="3840480" cy="777240"/>
          </a:xfrm>
          <a:prstGeom prst="rect">
            <a:avLst/>
          </a:prstGeom>
          <a:noFill/>
          <a:ln/>
        </p:spPr>
        <p:txBody>
          <a:bodyPr wrap="square" lIns="0" tIns="0" rIns="0" bIns="0" rtlCol="0" anchor="t"/>
          <a:lstStyle/>
          <a:p>
            <a:pPr indent="0" marL="0">
              <a:buNone/>
            </a:pPr>
            <a:r>
              <a:rPr lang="en-US" sz="1500" dirty="0">
                <a:solidFill>
                  <a:schemeClr val="tx1"/>
                </a:solidFill>
              </a:rPr>
              <a:t>Sin retroalimentación externa, los LLM no logran autocorregirse</a:t>
            </a:r>
            <a:endParaRPr lang="en-US" sz="1500" dirty="0"/>
          </a:p>
        </p:txBody>
      </p:sp>
      <p:sp>
        <p:nvSpPr>
          <p:cNvPr id="8" name="Text 5"/>
          <p:cNvSpPr txBox="1"/>
          <p:nvPr/>
        </p:nvSpPr>
        <p:spPr>
          <a:xfrm>
            <a:off x="1920240" y="3063240"/>
            <a:ext cx="3840480" cy="320040"/>
          </a:xfrm>
          <a:prstGeom prst="rect">
            <a:avLst/>
          </a:prstGeom>
          <a:noFill/>
          <a:ln/>
        </p:spPr>
        <p:txBody>
          <a:bodyPr wrap="square" lIns="0" tIns="0" rIns="0" bIns="0" rtlCol="0" anchor="t"/>
          <a:lstStyle/>
          <a:p>
            <a:pPr indent="0" marL="0">
              <a:buNone/>
            </a:pPr>
            <a:r>
              <a:rPr lang="en-US" sz="1200" i="1" dirty="0">
                <a:solidFill>
                  <a:schemeClr val="accent5"/>
                </a:solidFill>
              </a:rPr>
              <a:t>Huang et al., 2024</a:t>
            </a:r>
            <a:endParaRPr lang="en-US" sz="1200" dirty="0"/>
          </a:p>
        </p:txBody>
      </p:sp>
      <p:sp>
        <p:nvSpPr>
          <p:cNvPr id="9" name="tradeoff-2"/>
          <p:cNvSpPr/>
          <p:nvPr/>
        </p:nvSpPr>
        <p:spPr>
          <a:xfrm>
            <a:off x="6245352" y="1417320"/>
            <a:ext cx="5394960" cy="2103120"/>
          </a:xfrm>
          <a:prstGeom prst="roundRect">
            <a:avLst>
              <a:gd name="adj" fmla="val 5217"/>
            </a:avLst>
          </a:prstGeom>
          <a:solidFill>
            <a:schemeClr val="bg2"/>
          </a:solidFill>
          <a:ln/>
          <a:effectLst>
            <a:outerShdw sx="100000" sy="100000" kx="0" ky="0" algn="bl" rotWithShape="0" blurRad="101600" dist="25400" dir="5400000">
              <a:srgbClr val="0E2A3B">
                <a:alpha val="12000"/>
              </a:srgbClr>
            </a:outerShdw>
          </a:effectLst>
        </p:spPr>
      </p:sp>
      <p:sp>
        <p:nvSpPr>
          <p:cNvPr id="10" name="circulo-tradeoff2"/>
          <p:cNvSpPr/>
          <p:nvPr/>
        </p:nvSpPr>
        <p:spPr>
          <a:xfrm>
            <a:off x="6565392" y="1783080"/>
            <a:ext cx="822960" cy="822960"/>
          </a:xfrm>
          <a:prstGeom prst="ellipse">
            <a:avLst/>
          </a:prstGeom>
          <a:solidFill>
            <a:srgbClr val="127C80"/>
          </a:solidFill>
          <a:ln/>
        </p:spPr>
      </p:sp>
      <p:pic>
        <p:nvPicPr>
          <p:cNvPr id="11" name="icono-tradeoff2" descr="preencoded.png">    </p:cNvPr>
          <p:cNvPicPr>
            <a:picLocks noChangeAspect="1"/>
          </p:cNvPicPr>
          <p:nvPr/>
        </p:nvPicPr>
        <p:blipFill>
          <a:blip r:embed="rId2"/>
          <a:stretch>
            <a:fillRect/>
          </a:stretch>
        </p:blipFill>
        <p:spPr>
          <a:xfrm>
            <a:off x="6762902" y="1980590"/>
            <a:ext cx="427939" cy="427939"/>
          </a:xfrm>
          <a:prstGeom prst="rect">
            <a:avLst/>
          </a:prstGeom>
        </p:spPr>
      </p:pic>
      <p:sp>
        <p:nvSpPr>
          <p:cNvPr id="12" name="Text 8"/>
          <p:cNvSpPr txBox="1"/>
          <p:nvPr/>
        </p:nvSpPr>
        <p:spPr>
          <a:xfrm>
            <a:off x="7616952" y="1691640"/>
            <a:ext cx="384048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Explicar ≠ justificar</a:t>
            </a:r>
            <a:endParaRPr lang="en-US" sz="2000" dirty="0"/>
          </a:p>
        </p:txBody>
      </p:sp>
      <p:sp>
        <p:nvSpPr>
          <p:cNvPr id="13" name="Text 9"/>
          <p:cNvSpPr txBox="1"/>
          <p:nvPr/>
        </p:nvSpPr>
        <p:spPr>
          <a:xfrm>
            <a:off x="7616952" y="2240280"/>
            <a:ext cx="3840480" cy="777240"/>
          </a:xfrm>
          <a:prstGeom prst="rect">
            <a:avLst/>
          </a:prstGeom>
          <a:noFill/>
          <a:ln/>
        </p:spPr>
        <p:txBody>
          <a:bodyPr wrap="square" lIns="0" tIns="0" rIns="0" bIns="0" rtlCol="0" anchor="t"/>
          <a:lstStyle/>
          <a:p>
            <a:pPr indent="0" marL="0">
              <a:buNone/>
            </a:pPr>
            <a:r>
              <a:rPr lang="en-US" sz="1500" dirty="0">
                <a:solidFill>
                  <a:schemeClr val="tx1"/>
                </a:solidFill>
              </a:rPr>
              <a:t>Las explicaciones aumentan la aceptación aunque la IA se equivoque</a:t>
            </a:r>
            <a:endParaRPr lang="en-US" sz="1500" dirty="0"/>
          </a:p>
        </p:txBody>
      </p:sp>
      <p:sp>
        <p:nvSpPr>
          <p:cNvPr id="14" name="Text 10"/>
          <p:cNvSpPr txBox="1"/>
          <p:nvPr/>
        </p:nvSpPr>
        <p:spPr>
          <a:xfrm>
            <a:off x="7616952" y="3063240"/>
            <a:ext cx="3840480" cy="320040"/>
          </a:xfrm>
          <a:prstGeom prst="rect">
            <a:avLst/>
          </a:prstGeom>
          <a:noFill/>
          <a:ln/>
        </p:spPr>
        <p:txBody>
          <a:bodyPr wrap="square" lIns="0" tIns="0" rIns="0" bIns="0" rtlCol="0" anchor="t"/>
          <a:lstStyle/>
          <a:p>
            <a:pPr indent="0" marL="0">
              <a:buNone/>
            </a:pPr>
            <a:r>
              <a:rPr lang="en-US" sz="1200" i="1" dirty="0">
                <a:solidFill>
                  <a:schemeClr val="accent5"/>
                </a:solidFill>
              </a:rPr>
              <a:t>Bansal et al., 2021</a:t>
            </a:r>
            <a:endParaRPr lang="en-US" sz="1200" dirty="0"/>
          </a:p>
        </p:txBody>
      </p:sp>
      <p:sp>
        <p:nvSpPr>
          <p:cNvPr id="15" name="tradeoff-3"/>
          <p:cNvSpPr/>
          <p:nvPr/>
        </p:nvSpPr>
        <p:spPr>
          <a:xfrm>
            <a:off x="548640" y="3794760"/>
            <a:ext cx="5394960" cy="2103120"/>
          </a:xfrm>
          <a:prstGeom prst="roundRect">
            <a:avLst>
              <a:gd name="adj" fmla="val 5217"/>
            </a:avLst>
          </a:prstGeom>
          <a:solidFill>
            <a:schemeClr val="bg2"/>
          </a:solidFill>
          <a:ln/>
          <a:effectLst>
            <a:outerShdw sx="100000" sy="100000" kx="0" ky="0" algn="bl" rotWithShape="0" blurRad="101600" dist="25400" dir="5400000">
              <a:srgbClr val="0E2A3B">
                <a:alpha val="12000"/>
              </a:srgbClr>
            </a:outerShdw>
          </a:effectLst>
        </p:spPr>
      </p:sp>
      <p:sp>
        <p:nvSpPr>
          <p:cNvPr id="16" name="circulo-tradeoff3"/>
          <p:cNvSpPr/>
          <p:nvPr/>
        </p:nvSpPr>
        <p:spPr>
          <a:xfrm>
            <a:off x="868680" y="4160520"/>
            <a:ext cx="822960" cy="822960"/>
          </a:xfrm>
          <a:prstGeom prst="ellipse">
            <a:avLst/>
          </a:prstGeom>
          <a:solidFill>
            <a:srgbClr val="E05A3A"/>
          </a:solidFill>
          <a:ln/>
        </p:spPr>
      </p:sp>
      <p:pic>
        <p:nvPicPr>
          <p:cNvPr id="17" name="icono-tradeoff3" descr="preencoded.png">    </p:cNvPr>
          <p:cNvPicPr>
            <a:picLocks noChangeAspect="1"/>
          </p:cNvPicPr>
          <p:nvPr/>
        </p:nvPicPr>
        <p:blipFill>
          <a:blip r:embed="rId3"/>
          <a:stretch>
            <a:fillRect/>
          </a:stretch>
        </p:blipFill>
        <p:spPr>
          <a:xfrm>
            <a:off x="1066190" y="4358030"/>
            <a:ext cx="427939" cy="427939"/>
          </a:xfrm>
          <a:prstGeom prst="rect">
            <a:avLst/>
          </a:prstGeom>
        </p:spPr>
      </p:pic>
      <p:sp>
        <p:nvSpPr>
          <p:cNvPr id="18" name="Text 13"/>
          <p:cNvSpPr txBox="1"/>
          <p:nvPr/>
        </p:nvSpPr>
        <p:spPr>
          <a:xfrm>
            <a:off x="1920240" y="4069080"/>
            <a:ext cx="384048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Humano ≠ complementario</a:t>
            </a:r>
            <a:endParaRPr lang="en-US" sz="2000" dirty="0"/>
          </a:p>
        </p:txBody>
      </p:sp>
      <p:sp>
        <p:nvSpPr>
          <p:cNvPr id="19" name="Text 14"/>
          <p:cNvSpPr txBox="1"/>
          <p:nvPr/>
        </p:nvSpPr>
        <p:spPr>
          <a:xfrm>
            <a:off x="1920240" y="4617720"/>
            <a:ext cx="3840480" cy="777240"/>
          </a:xfrm>
          <a:prstGeom prst="rect">
            <a:avLst/>
          </a:prstGeom>
          <a:noFill/>
          <a:ln/>
        </p:spPr>
        <p:txBody>
          <a:bodyPr wrap="square" lIns="0" tIns="0" rIns="0" bIns="0" rtlCol="0" anchor="t"/>
          <a:lstStyle/>
          <a:p>
            <a:pPr indent="0" marL="0">
              <a:buNone/>
            </a:pPr>
            <a:r>
              <a:rPr lang="en-US" sz="1500" dirty="0">
                <a:solidFill>
                  <a:schemeClr val="tx1"/>
                </a:solidFill>
              </a:rPr>
              <a:t>Con GPT-4, los médicos no mejoraron su diagnóstico (76 % vs. 74 %)</a:t>
            </a:r>
            <a:endParaRPr lang="en-US" sz="1500" dirty="0"/>
          </a:p>
        </p:txBody>
      </p:sp>
      <p:sp>
        <p:nvSpPr>
          <p:cNvPr id="20" name="Text 15"/>
          <p:cNvSpPr txBox="1"/>
          <p:nvPr/>
        </p:nvSpPr>
        <p:spPr>
          <a:xfrm>
            <a:off x="1920240" y="5440680"/>
            <a:ext cx="3840480" cy="320040"/>
          </a:xfrm>
          <a:prstGeom prst="rect">
            <a:avLst/>
          </a:prstGeom>
          <a:noFill/>
          <a:ln/>
        </p:spPr>
        <p:txBody>
          <a:bodyPr wrap="square" lIns="0" tIns="0" rIns="0" bIns="0" rtlCol="0" anchor="t"/>
          <a:lstStyle/>
          <a:p>
            <a:pPr indent="0" marL="0">
              <a:buNone/>
            </a:pPr>
            <a:r>
              <a:rPr lang="en-US" sz="1200" i="1" dirty="0">
                <a:solidFill>
                  <a:schemeClr val="accent5"/>
                </a:solidFill>
              </a:rPr>
              <a:t>Goh et al., 2024 · ensayo aleatorizado</a:t>
            </a:r>
            <a:endParaRPr lang="en-US" sz="1200" dirty="0"/>
          </a:p>
        </p:txBody>
      </p:sp>
      <p:sp>
        <p:nvSpPr>
          <p:cNvPr id="21" name="tradeoff-4"/>
          <p:cNvSpPr/>
          <p:nvPr/>
        </p:nvSpPr>
        <p:spPr>
          <a:xfrm>
            <a:off x="6245352" y="3794760"/>
            <a:ext cx="5394960" cy="2103120"/>
          </a:xfrm>
          <a:prstGeom prst="roundRect">
            <a:avLst>
              <a:gd name="adj" fmla="val 5217"/>
            </a:avLst>
          </a:prstGeom>
          <a:solidFill>
            <a:schemeClr val="bg2"/>
          </a:solidFill>
          <a:ln/>
          <a:effectLst>
            <a:outerShdw sx="100000" sy="100000" kx="0" ky="0" algn="bl" rotWithShape="0" blurRad="101600" dist="25400" dir="5400000">
              <a:srgbClr val="0E2A3B">
                <a:alpha val="12000"/>
              </a:srgbClr>
            </a:outerShdw>
          </a:effectLst>
        </p:spPr>
      </p:sp>
      <p:sp>
        <p:nvSpPr>
          <p:cNvPr id="22" name="circulo-tradeoff4"/>
          <p:cNvSpPr/>
          <p:nvPr/>
        </p:nvSpPr>
        <p:spPr>
          <a:xfrm>
            <a:off x="6565392" y="4160520"/>
            <a:ext cx="822960" cy="822960"/>
          </a:xfrm>
          <a:prstGeom prst="ellipse">
            <a:avLst/>
          </a:prstGeom>
          <a:solidFill>
            <a:srgbClr val="0E2A3B"/>
          </a:solidFill>
          <a:ln/>
        </p:spPr>
      </p:sp>
      <p:pic>
        <p:nvPicPr>
          <p:cNvPr id="23" name="icono-tradeoff4" descr="preencoded.png">    </p:cNvPr>
          <p:cNvPicPr>
            <a:picLocks noChangeAspect="1"/>
          </p:cNvPicPr>
          <p:nvPr/>
        </p:nvPicPr>
        <p:blipFill>
          <a:blip r:embed="rId4"/>
          <a:stretch>
            <a:fillRect/>
          </a:stretch>
        </p:blipFill>
        <p:spPr>
          <a:xfrm>
            <a:off x="6762902" y="4358030"/>
            <a:ext cx="427939" cy="427939"/>
          </a:xfrm>
          <a:prstGeom prst="rect">
            <a:avLst/>
          </a:prstGeom>
        </p:spPr>
      </p:pic>
      <p:sp>
        <p:nvSpPr>
          <p:cNvPr id="24" name="Text 18"/>
          <p:cNvSpPr txBox="1"/>
          <p:nvPr/>
        </p:nvSpPr>
        <p:spPr>
          <a:xfrm>
            <a:off x="7616952" y="4069080"/>
            <a:ext cx="384048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Equidad ≠ un solo número</a:t>
            </a:r>
            <a:endParaRPr lang="en-US" sz="2000" dirty="0"/>
          </a:p>
        </p:txBody>
      </p:sp>
      <p:sp>
        <p:nvSpPr>
          <p:cNvPr id="25" name="Text 19"/>
          <p:cNvSpPr txBox="1"/>
          <p:nvPr/>
        </p:nvSpPr>
        <p:spPr>
          <a:xfrm>
            <a:off x="7616952" y="4617720"/>
            <a:ext cx="3840480" cy="777240"/>
          </a:xfrm>
          <a:prstGeom prst="rect">
            <a:avLst/>
          </a:prstGeom>
          <a:noFill/>
          <a:ln/>
        </p:spPr>
        <p:txBody>
          <a:bodyPr wrap="square" lIns="0" tIns="0" rIns="0" bIns="0" rtlCol="0" anchor="t"/>
          <a:lstStyle/>
          <a:p>
            <a:pPr indent="0" marL="0">
              <a:buNone/>
            </a:pPr>
            <a:r>
              <a:rPr lang="en-US" sz="1500" dirty="0">
                <a:solidFill>
                  <a:schemeClr val="tx1"/>
                </a:solidFill>
              </a:rPr>
              <a:t>Calibración e igualdad de errores chocan si las tasas base difieren</a:t>
            </a:r>
            <a:endParaRPr lang="en-US" sz="1500" dirty="0"/>
          </a:p>
        </p:txBody>
      </p:sp>
      <p:sp>
        <p:nvSpPr>
          <p:cNvPr id="26" name="Text 20"/>
          <p:cNvSpPr txBox="1"/>
          <p:nvPr/>
        </p:nvSpPr>
        <p:spPr>
          <a:xfrm>
            <a:off x="7616952" y="5440680"/>
            <a:ext cx="3840480" cy="320040"/>
          </a:xfrm>
          <a:prstGeom prst="rect">
            <a:avLst/>
          </a:prstGeom>
          <a:noFill/>
          <a:ln/>
        </p:spPr>
        <p:txBody>
          <a:bodyPr wrap="square" lIns="0" tIns="0" rIns="0" bIns="0" rtlCol="0" anchor="t"/>
          <a:lstStyle/>
          <a:p>
            <a:pPr indent="0" marL="0">
              <a:buNone/>
            </a:pPr>
            <a:r>
              <a:rPr lang="en-US" sz="1200" i="1" dirty="0">
                <a:solidFill>
                  <a:schemeClr val="accent5"/>
                </a:solidFill>
              </a:rPr>
              <a:t>Kleinberg et al., 2017; Chouldechova, 2017</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 demo: cómo está organizada</a:t>
            </a:r>
            <a:endParaRPr lang="en-US" sz="3000" dirty="0"/>
          </a:p>
        </p:txBody>
      </p:sp>
      <p:sp>
        <p:nvSpPr>
          <p:cNvPr id="3" name="linea-tiempo"/>
          <p:cNvSpPr/>
          <p:nvPr/>
        </p:nvSpPr>
        <p:spPr>
          <a:xfrm>
            <a:off x="1234440" y="1828800"/>
            <a:ext cx="9738360" cy="0"/>
          </a:xfrm>
          <a:prstGeom prst="line">
            <a:avLst/>
          </a:prstGeom>
          <a:noFill/>
          <a:ln w="25400">
            <a:solidFill>
              <a:schemeClr val="accent6"/>
            </a:solidFill>
            <a:prstDash val="solid"/>
          </a:ln>
        </p:spPr>
      </p:sp>
      <p:sp>
        <p:nvSpPr>
          <p:cNvPr id="4" name="acto-0"/>
          <p:cNvSpPr/>
          <p:nvPr/>
        </p:nvSpPr>
        <p:spPr>
          <a:xfrm>
            <a:off x="868680" y="1463040"/>
            <a:ext cx="731520" cy="731520"/>
          </a:xfrm>
          <a:prstGeom prst="ellipse">
            <a:avLst/>
          </a:prstGeom>
          <a:solidFill>
            <a:srgbClr val="C9D6DB"/>
          </a:solidFill>
          <a:ln w="38100">
            <a:solidFill>
              <a:srgbClr val="FFFFFF"/>
            </a:solidFill>
            <a:prstDash val="solid"/>
          </a:ln>
        </p:spPr>
      </p:sp>
      <p:sp>
        <p:nvSpPr>
          <p:cNvPr id="5" name="Text 3"/>
          <p:cNvSpPr txBox="1"/>
          <p:nvPr/>
        </p:nvSpPr>
        <p:spPr>
          <a:xfrm>
            <a:off x="868680" y="1463040"/>
            <a:ext cx="731520" cy="731520"/>
          </a:xfrm>
          <a:prstGeom prst="rect">
            <a:avLst/>
          </a:prstGeom>
          <a:noFill/>
          <a:ln/>
        </p:spPr>
        <p:txBody>
          <a:bodyPr wrap="square" lIns="0" tIns="0" rIns="0" bIns="0" rtlCol="0" anchor="ctr"/>
          <a:lstStyle/>
          <a:p>
            <a:pPr algn="ctr" indent="0" marL="0">
              <a:buNone/>
            </a:pPr>
            <a:r>
              <a:rPr lang="en-US" sz="1800" b="1" dirty="0">
                <a:solidFill>
                  <a:schemeClr val="tx2"/>
                </a:solidFill>
              </a:rPr>
              <a:t>0</a:t>
            </a:r>
            <a:endParaRPr lang="en-US" sz="1800" dirty="0"/>
          </a:p>
        </p:txBody>
      </p:sp>
      <p:sp>
        <p:nvSpPr>
          <p:cNvPr id="6" name="Text 4"/>
          <p:cNvSpPr txBox="1"/>
          <p:nvPr/>
        </p:nvSpPr>
        <p:spPr>
          <a:xfrm>
            <a:off x="45720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Datos</a:t>
            </a:r>
            <a:endParaRPr lang="en-US" sz="1400" dirty="0"/>
          </a:p>
          <a:p>
            <a:pPr algn="ctr" indent="0" marL="0">
              <a:buNone/>
            </a:pPr>
            <a:r>
              <a:rPr lang="en-US" sz="1200" dirty="0">
                <a:solidFill>
                  <a:schemeClr val="accent5"/>
                </a:solidFill>
              </a:rPr>
              <a:t>Base de los actos</a:t>
            </a:r>
            <a:endParaRPr lang="en-US" sz="1400" dirty="0"/>
          </a:p>
        </p:txBody>
      </p:sp>
      <p:sp>
        <p:nvSpPr>
          <p:cNvPr id="7" name="resultado-0"/>
          <p:cNvSpPr/>
          <p:nvPr/>
        </p:nvSpPr>
        <p:spPr>
          <a:xfrm>
            <a:off x="50292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8" name="Text 6"/>
          <p:cNvSpPr txBox="1"/>
          <p:nvPr/>
        </p:nvSpPr>
        <p:spPr>
          <a:xfrm>
            <a:off x="54864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20 000 pacientes</a:t>
            </a:r>
            <a:endParaRPr lang="en-US" sz="1200" dirty="0"/>
          </a:p>
        </p:txBody>
      </p:sp>
      <p:sp>
        <p:nvSpPr>
          <p:cNvPr id="9" name="acto-1"/>
          <p:cNvSpPr/>
          <p:nvPr/>
        </p:nvSpPr>
        <p:spPr>
          <a:xfrm>
            <a:off x="2491740" y="1463040"/>
            <a:ext cx="731520" cy="731520"/>
          </a:xfrm>
          <a:prstGeom prst="ellipse">
            <a:avLst/>
          </a:prstGeom>
          <a:solidFill>
            <a:srgbClr val="127C80"/>
          </a:solidFill>
          <a:ln w="38100">
            <a:solidFill>
              <a:srgbClr val="FFFFFF"/>
            </a:solidFill>
            <a:prstDash val="solid"/>
          </a:ln>
        </p:spPr>
      </p:sp>
      <p:sp>
        <p:nvSpPr>
          <p:cNvPr id="10" name="Text 8"/>
          <p:cNvSpPr txBox="1"/>
          <p:nvPr/>
        </p:nvSpPr>
        <p:spPr>
          <a:xfrm>
            <a:off x="249174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9"/>
          <p:cNvSpPr txBox="1"/>
          <p:nvPr/>
        </p:nvSpPr>
        <p:spPr>
          <a:xfrm>
            <a:off x="208026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Calibración</a:t>
            </a:r>
            <a:endParaRPr lang="en-US" sz="1400" dirty="0"/>
          </a:p>
          <a:p>
            <a:pPr algn="ctr" indent="0" marL="0">
              <a:buNone/>
            </a:pPr>
            <a:r>
              <a:rPr lang="en-US" sz="1200" dirty="0">
                <a:solidFill>
                  <a:schemeClr val="accent5"/>
                </a:solidFill>
              </a:rPr>
              <a:t>Paper 2.1</a:t>
            </a:r>
            <a:endParaRPr lang="en-US" sz="1400" dirty="0"/>
          </a:p>
        </p:txBody>
      </p:sp>
      <p:sp>
        <p:nvSpPr>
          <p:cNvPr id="12" name="resultado-1"/>
          <p:cNvSpPr/>
          <p:nvPr/>
        </p:nvSpPr>
        <p:spPr>
          <a:xfrm>
            <a:off x="212598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13" name="Text 11"/>
          <p:cNvSpPr txBox="1"/>
          <p:nvPr/>
        </p:nvSpPr>
        <p:spPr>
          <a:xfrm>
            <a:off x="217170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ECE 0,096 → 0,013</a:t>
            </a:r>
            <a:endParaRPr lang="en-US" sz="1200" dirty="0"/>
          </a:p>
        </p:txBody>
      </p:sp>
      <p:sp>
        <p:nvSpPr>
          <p:cNvPr id="14" name="acto-2"/>
          <p:cNvSpPr/>
          <p:nvPr/>
        </p:nvSpPr>
        <p:spPr>
          <a:xfrm>
            <a:off x="4114800" y="1463040"/>
            <a:ext cx="731520" cy="731520"/>
          </a:xfrm>
          <a:prstGeom prst="ellipse">
            <a:avLst/>
          </a:prstGeom>
          <a:solidFill>
            <a:srgbClr val="5B6B76"/>
          </a:solidFill>
          <a:ln w="38100">
            <a:solidFill>
              <a:srgbClr val="FFFFFF"/>
            </a:solidFill>
            <a:prstDash val="solid"/>
          </a:ln>
        </p:spPr>
      </p:sp>
      <p:sp>
        <p:nvSpPr>
          <p:cNvPr id="15" name="Text 13"/>
          <p:cNvSpPr txBox="1"/>
          <p:nvPr/>
        </p:nvSpPr>
        <p:spPr>
          <a:xfrm>
            <a:off x="411480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4"/>
          <p:cNvSpPr txBox="1"/>
          <p:nvPr/>
        </p:nvSpPr>
        <p:spPr>
          <a:xfrm>
            <a:off x="370332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Verificación</a:t>
            </a:r>
            <a:endParaRPr lang="en-US" sz="1400" dirty="0"/>
          </a:p>
          <a:p>
            <a:pPr algn="ctr" indent="0" marL="0">
              <a:buNone/>
            </a:pPr>
            <a:r>
              <a:rPr lang="en-US" sz="1200" dirty="0">
                <a:solidFill>
                  <a:schemeClr val="accent5"/>
                </a:solidFill>
              </a:rPr>
              <a:t>Paper 2.2 · ec. 2</a:t>
            </a:r>
            <a:endParaRPr lang="en-US" sz="1400" dirty="0"/>
          </a:p>
        </p:txBody>
      </p:sp>
      <p:sp>
        <p:nvSpPr>
          <p:cNvPr id="17" name="resultado-2"/>
          <p:cNvSpPr/>
          <p:nvPr/>
        </p:nvSpPr>
        <p:spPr>
          <a:xfrm>
            <a:off x="374904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18" name="Text 16"/>
          <p:cNvSpPr txBox="1"/>
          <p:nvPr/>
        </p:nvSpPr>
        <p:spPr>
          <a:xfrm>
            <a:off x="379476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Falsas: 5 → 1</a:t>
            </a:r>
            <a:endParaRPr lang="en-US" sz="1200" dirty="0"/>
          </a:p>
        </p:txBody>
      </p:sp>
      <p:sp>
        <p:nvSpPr>
          <p:cNvPr id="19" name="acto-2b"/>
          <p:cNvSpPr/>
          <p:nvPr/>
        </p:nvSpPr>
        <p:spPr>
          <a:xfrm>
            <a:off x="5737860" y="1463040"/>
            <a:ext cx="731520" cy="731520"/>
          </a:xfrm>
          <a:prstGeom prst="ellipse">
            <a:avLst/>
          </a:prstGeom>
          <a:solidFill>
            <a:srgbClr val="5B6B76"/>
          </a:solidFill>
          <a:ln w="38100">
            <a:solidFill>
              <a:srgbClr val="FFFFFF"/>
            </a:solidFill>
            <a:prstDash val="solid"/>
          </a:ln>
        </p:spPr>
      </p:sp>
      <p:sp>
        <p:nvSpPr>
          <p:cNvPr id="20" name="Text 18"/>
          <p:cNvSpPr txBox="1"/>
          <p:nvPr/>
        </p:nvSpPr>
        <p:spPr>
          <a:xfrm>
            <a:off x="573786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2b</a:t>
            </a:r>
            <a:endParaRPr lang="en-US" sz="1800" dirty="0"/>
          </a:p>
        </p:txBody>
      </p:sp>
      <p:sp>
        <p:nvSpPr>
          <p:cNvPr id="21" name="Text 19"/>
          <p:cNvSpPr txBox="1"/>
          <p:nvPr/>
        </p:nvSpPr>
        <p:spPr>
          <a:xfrm>
            <a:off x="532638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Shapley</a:t>
            </a:r>
            <a:endParaRPr lang="en-US" sz="1400" dirty="0"/>
          </a:p>
          <a:p>
            <a:pPr algn="ctr" indent="0" marL="0">
              <a:buNone/>
            </a:pPr>
            <a:r>
              <a:rPr lang="en-US" sz="1200" dirty="0">
                <a:solidFill>
                  <a:schemeClr val="accent5"/>
                </a:solidFill>
              </a:rPr>
              <a:t>Paper 2.2</a:t>
            </a:r>
            <a:endParaRPr lang="en-US" sz="1400" dirty="0"/>
          </a:p>
        </p:txBody>
      </p:sp>
      <p:sp>
        <p:nvSpPr>
          <p:cNvPr id="22" name="resultado-2b"/>
          <p:cNvSpPr/>
          <p:nvPr/>
        </p:nvSpPr>
        <p:spPr>
          <a:xfrm>
            <a:off x="537210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23" name="Text 21"/>
          <p:cNvSpPr txBox="1"/>
          <p:nvPr/>
        </p:nvSpPr>
        <p:spPr>
          <a:xfrm>
            <a:off x="541782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Delata un proxy</a:t>
            </a:r>
            <a:endParaRPr lang="en-US" sz="1200" dirty="0"/>
          </a:p>
        </p:txBody>
      </p:sp>
      <p:sp>
        <p:nvSpPr>
          <p:cNvPr id="24" name="acto-3"/>
          <p:cNvSpPr/>
          <p:nvPr/>
        </p:nvSpPr>
        <p:spPr>
          <a:xfrm>
            <a:off x="7360920" y="1463040"/>
            <a:ext cx="731520" cy="731520"/>
          </a:xfrm>
          <a:prstGeom prst="ellipse">
            <a:avLst/>
          </a:prstGeom>
          <a:solidFill>
            <a:srgbClr val="E05A3A"/>
          </a:solidFill>
          <a:ln w="38100">
            <a:solidFill>
              <a:srgbClr val="FFFFFF"/>
            </a:solidFill>
            <a:prstDash val="solid"/>
          </a:ln>
        </p:spPr>
      </p:sp>
      <p:sp>
        <p:nvSpPr>
          <p:cNvPr id="25" name="Text 23"/>
          <p:cNvSpPr txBox="1"/>
          <p:nvPr/>
        </p:nvSpPr>
        <p:spPr>
          <a:xfrm>
            <a:off x="736092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6" name="Text 24"/>
          <p:cNvSpPr txBox="1"/>
          <p:nvPr/>
        </p:nvSpPr>
        <p:spPr>
          <a:xfrm>
            <a:off x="694944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Supervisión</a:t>
            </a:r>
            <a:endParaRPr lang="en-US" sz="1400" dirty="0"/>
          </a:p>
          <a:p>
            <a:pPr algn="ctr" indent="0" marL="0">
              <a:buNone/>
            </a:pPr>
            <a:r>
              <a:rPr lang="en-US" sz="1200" dirty="0">
                <a:solidFill>
                  <a:schemeClr val="accent5"/>
                </a:solidFill>
              </a:rPr>
              <a:t>Paper 2.3 · ec. 3</a:t>
            </a:r>
            <a:endParaRPr lang="en-US" sz="1400" dirty="0"/>
          </a:p>
        </p:txBody>
      </p:sp>
      <p:sp>
        <p:nvSpPr>
          <p:cNvPr id="27" name="resultado-3"/>
          <p:cNvSpPr/>
          <p:nvPr/>
        </p:nvSpPr>
        <p:spPr>
          <a:xfrm>
            <a:off x="699516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28" name="Text 26"/>
          <p:cNvSpPr txBox="1"/>
          <p:nvPr/>
        </p:nvSpPr>
        <p:spPr>
          <a:xfrm>
            <a:off x="704088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Error 18,1 % → 5,3 %</a:t>
            </a:r>
            <a:endParaRPr lang="en-US" sz="1200" dirty="0"/>
          </a:p>
        </p:txBody>
      </p:sp>
      <p:sp>
        <p:nvSpPr>
          <p:cNvPr id="29" name="acto-4"/>
          <p:cNvSpPr/>
          <p:nvPr/>
        </p:nvSpPr>
        <p:spPr>
          <a:xfrm>
            <a:off x="8983980" y="1463040"/>
            <a:ext cx="731520" cy="731520"/>
          </a:xfrm>
          <a:prstGeom prst="ellipse">
            <a:avLst/>
          </a:prstGeom>
          <a:solidFill>
            <a:srgbClr val="0E2A3B"/>
          </a:solidFill>
          <a:ln w="38100">
            <a:solidFill>
              <a:srgbClr val="FFFFFF"/>
            </a:solidFill>
            <a:prstDash val="solid"/>
          </a:ln>
        </p:spPr>
      </p:sp>
      <p:sp>
        <p:nvSpPr>
          <p:cNvPr id="30" name="Text 28"/>
          <p:cNvSpPr txBox="1"/>
          <p:nvPr/>
        </p:nvSpPr>
        <p:spPr>
          <a:xfrm>
            <a:off x="8983980" y="146304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1" name="Text 29"/>
          <p:cNvSpPr txBox="1"/>
          <p:nvPr/>
        </p:nvSpPr>
        <p:spPr>
          <a:xfrm>
            <a:off x="857250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Equidad</a:t>
            </a:r>
            <a:endParaRPr lang="en-US" sz="1400" dirty="0"/>
          </a:p>
          <a:p>
            <a:pPr algn="ctr" indent="0" marL="0">
              <a:buNone/>
            </a:pPr>
            <a:r>
              <a:rPr lang="en-US" sz="1200" dirty="0">
                <a:solidFill>
                  <a:schemeClr val="accent5"/>
                </a:solidFill>
              </a:rPr>
              <a:t>Paper 2.3 · ec. 4</a:t>
            </a:r>
            <a:endParaRPr lang="en-US" sz="1400" dirty="0"/>
          </a:p>
        </p:txBody>
      </p:sp>
      <p:sp>
        <p:nvSpPr>
          <p:cNvPr id="32" name="resultado-4"/>
          <p:cNvSpPr/>
          <p:nvPr/>
        </p:nvSpPr>
        <p:spPr>
          <a:xfrm>
            <a:off x="861822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33" name="Text 31"/>
          <p:cNvSpPr txBox="1"/>
          <p:nvPr/>
        </p:nvSpPr>
        <p:spPr>
          <a:xfrm>
            <a:off x="866394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Δ EO 0,058 → 0,030</a:t>
            </a:r>
            <a:endParaRPr lang="en-US" sz="1200" dirty="0"/>
          </a:p>
        </p:txBody>
      </p:sp>
      <p:sp>
        <p:nvSpPr>
          <p:cNvPr id="34" name="acto-5"/>
          <p:cNvSpPr/>
          <p:nvPr/>
        </p:nvSpPr>
        <p:spPr>
          <a:xfrm>
            <a:off x="10607040" y="1463040"/>
            <a:ext cx="731520" cy="731520"/>
          </a:xfrm>
          <a:prstGeom prst="ellipse">
            <a:avLst/>
          </a:prstGeom>
          <a:solidFill>
            <a:srgbClr val="C9D6DB"/>
          </a:solidFill>
          <a:ln w="38100">
            <a:solidFill>
              <a:srgbClr val="FFFFFF"/>
            </a:solidFill>
            <a:prstDash val="solid"/>
          </a:ln>
        </p:spPr>
      </p:sp>
      <p:sp>
        <p:nvSpPr>
          <p:cNvPr id="35" name="Text 33"/>
          <p:cNvSpPr txBox="1"/>
          <p:nvPr/>
        </p:nvSpPr>
        <p:spPr>
          <a:xfrm>
            <a:off x="10607040" y="1463040"/>
            <a:ext cx="731520" cy="731520"/>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36" name="Text 34"/>
          <p:cNvSpPr txBox="1"/>
          <p:nvPr/>
        </p:nvSpPr>
        <p:spPr>
          <a:xfrm>
            <a:off x="10195560" y="2331720"/>
            <a:ext cx="1554480" cy="685800"/>
          </a:xfrm>
          <a:prstGeom prst="rect">
            <a:avLst/>
          </a:prstGeom>
          <a:noFill/>
          <a:ln/>
        </p:spPr>
        <p:txBody>
          <a:bodyPr wrap="square" lIns="0" tIns="0" rIns="0" bIns="0" rtlCol="0" anchor="t"/>
          <a:lstStyle/>
          <a:p>
            <a:pPr algn="ctr" indent="0" marL="0">
              <a:buNone/>
            </a:pPr>
            <a:r>
              <a:rPr lang="en-US" sz="1500" b="1" dirty="0">
                <a:solidFill>
                  <a:schemeClr val="tx2"/>
                </a:solidFill>
              </a:rPr>
              <a:t>Panel</a:t>
            </a:r>
            <a:endParaRPr lang="en-US" sz="1400" dirty="0"/>
          </a:p>
          <a:p>
            <a:pPr algn="ctr" indent="0" marL="0">
              <a:buNone/>
            </a:pPr>
            <a:r>
              <a:rPr lang="en-US" sz="1200" dirty="0">
                <a:solidFill>
                  <a:schemeClr val="accent5"/>
                </a:solidFill>
              </a:rPr>
              <a:t>Tabla 1</a:t>
            </a:r>
            <a:endParaRPr lang="en-US" sz="1400" dirty="0"/>
          </a:p>
        </p:txBody>
      </p:sp>
      <p:sp>
        <p:nvSpPr>
          <p:cNvPr id="37" name="resultado-5"/>
          <p:cNvSpPr/>
          <p:nvPr/>
        </p:nvSpPr>
        <p:spPr>
          <a:xfrm>
            <a:off x="10241280" y="3108960"/>
            <a:ext cx="1463040" cy="731520"/>
          </a:xfrm>
          <a:prstGeom prst="roundRect">
            <a:avLst>
              <a:gd name="adj" fmla="val 15000"/>
            </a:avLst>
          </a:prstGeom>
          <a:solidFill>
            <a:schemeClr val="bg2"/>
          </a:solidFill>
          <a:ln/>
          <a:effectLst>
            <a:outerShdw sx="100000" sy="100000" kx="0" ky="0" algn="bl" rotWithShape="0" blurRad="101600" dist="25400" dir="5400000">
              <a:srgbClr val="0E2A3B">
                <a:alpha val="12000"/>
              </a:srgbClr>
            </a:outerShdw>
          </a:effectLst>
        </p:spPr>
      </p:sp>
      <p:sp>
        <p:nvSpPr>
          <p:cNvPr id="38" name="Text 36"/>
          <p:cNvSpPr txBox="1"/>
          <p:nvPr/>
        </p:nvSpPr>
        <p:spPr>
          <a:xfrm>
            <a:off x="10287000" y="3108960"/>
            <a:ext cx="1371600" cy="731520"/>
          </a:xfrm>
          <a:prstGeom prst="rect">
            <a:avLst/>
          </a:prstGeom>
          <a:noFill/>
          <a:ln/>
        </p:spPr>
        <p:txBody>
          <a:bodyPr wrap="square" lIns="0" tIns="0" rIns="0" bIns="0" rtlCol="0" anchor="ctr"/>
          <a:lstStyle/>
          <a:p>
            <a:pPr algn="ctr" indent="0" marL="0">
              <a:buNone/>
            </a:pPr>
            <a:r>
              <a:rPr lang="en-US" sz="1200" b="1" dirty="0">
                <a:solidFill>
                  <a:schemeClr val="tx1"/>
                </a:solidFill>
              </a:rPr>
              <a:t>Todas las métricas</a:t>
            </a:r>
            <a:endParaRPr lang="en-US" sz="1200" dirty="0"/>
          </a:p>
        </p:txBody>
      </p:sp>
      <p:sp>
        <p:nvSpPr>
          <p:cNvPr id="39" name="bloque-1"/>
          <p:cNvSpPr/>
          <p:nvPr/>
        </p:nvSpPr>
        <p:spPr>
          <a:xfrm>
            <a:off x="548640" y="4251960"/>
            <a:ext cx="3520440" cy="1874520"/>
          </a:xfrm>
          <a:prstGeom prst="roundRect">
            <a:avLst>
              <a:gd name="adj" fmla="val 5854"/>
            </a:avLst>
          </a:prstGeom>
          <a:solidFill>
            <a:schemeClr val="bg2"/>
          </a:solidFill>
          <a:ln/>
          <a:effectLst>
            <a:outerShdw sx="100000" sy="100000" kx="0" ky="0" algn="bl" rotWithShape="0" blurRad="101600" dist="25400" dir="5400000">
              <a:srgbClr val="0E2A3B">
                <a:alpha val="12000"/>
              </a:srgbClr>
            </a:outerShdw>
          </a:effectLst>
        </p:spPr>
      </p:sp>
      <p:sp>
        <p:nvSpPr>
          <p:cNvPr id="40" name="circulo-bloque1"/>
          <p:cNvSpPr/>
          <p:nvPr/>
        </p:nvSpPr>
        <p:spPr>
          <a:xfrm>
            <a:off x="822960" y="4526280"/>
            <a:ext cx="640080" cy="640080"/>
          </a:xfrm>
          <a:prstGeom prst="ellipse">
            <a:avLst/>
          </a:prstGeom>
          <a:solidFill>
            <a:srgbClr val="127C80"/>
          </a:solidFill>
          <a:ln/>
        </p:spPr>
      </p:sp>
      <p:pic>
        <p:nvPicPr>
          <p:cNvPr id="41" name="icono-bloque1" descr="preencoded.png">    </p:cNvPr>
          <p:cNvPicPr>
            <a:picLocks noChangeAspect="1"/>
          </p:cNvPicPr>
          <p:nvPr/>
        </p:nvPicPr>
        <p:blipFill>
          <a:blip r:embed="rId1"/>
          <a:stretch>
            <a:fillRect/>
          </a:stretch>
        </p:blipFill>
        <p:spPr>
          <a:xfrm>
            <a:off x="976579" y="4679899"/>
            <a:ext cx="332842" cy="332842"/>
          </a:xfrm>
          <a:prstGeom prst="rect">
            <a:avLst/>
          </a:prstGeom>
        </p:spPr>
      </p:pic>
      <p:sp>
        <p:nvSpPr>
          <p:cNvPr id="42" name="Text 39"/>
          <p:cNvSpPr txBox="1"/>
          <p:nvPr/>
        </p:nvSpPr>
        <p:spPr>
          <a:xfrm>
            <a:off x="1600200" y="4526280"/>
            <a:ext cx="2331720" cy="640080"/>
          </a:xfrm>
          <a:prstGeom prst="rect">
            <a:avLst/>
          </a:prstGeom>
          <a:noFill/>
          <a:ln/>
        </p:spPr>
        <p:txBody>
          <a:bodyPr wrap="square" lIns="0" tIns="0" rIns="0" bIns="0" rtlCol="0" anchor="ctr"/>
          <a:lstStyle/>
          <a:p>
            <a:pPr indent="0" marL="0">
              <a:buNone/>
            </a:pPr>
            <a:r>
              <a:rPr lang="en-US" sz="1700" b="1" dirty="0">
                <a:solidFill>
                  <a:schemeClr val="tx2"/>
                </a:solidFill>
              </a:rPr>
              <a:t>Afirmaciones de texto</a:t>
            </a:r>
            <a:endParaRPr lang="en-US" sz="1700" dirty="0"/>
          </a:p>
        </p:txBody>
      </p:sp>
      <p:sp>
        <p:nvSpPr>
          <p:cNvPr id="43" name="Text 40"/>
          <p:cNvSpPr txBox="1"/>
          <p:nvPr/>
        </p:nvSpPr>
        <p:spPr>
          <a:xfrm>
            <a:off x="822960" y="5257800"/>
            <a:ext cx="3063240" cy="777240"/>
          </a:xfrm>
          <a:prstGeom prst="rect">
            <a:avLst/>
          </a:prstGeom>
          <a:noFill/>
          <a:ln/>
        </p:spPr>
        <p:txBody>
          <a:bodyPr wrap="square" lIns="0" tIns="0" rIns="0" bIns="0" rtlCol="0" anchor="t"/>
          <a:lstStyle/>
          <a:p>
            <a:pPr indent="0" marL="0">
              <a:buNone/>
            </a:pPr>
            <a:r>
              <a:rPr lang="en-US" sz="1400" dirty="0">
                <a:solidFill>
                  <a:schemeClr val="tx1"/>
                </a:solidFill>
              </a:rPr>
              <a:t>10 afirmaciones clínicas del «LLM», 5 de ellas falsas. Alimentan el acto 2.</a:t>
            </a:r>
            <a:endParaRPr lang="en-US" sz="1400" dirty="0"/>
          </a:p>
        </p:txBody>
      </p:sp>
      <p:sp>
        <p:nvSpPr>
          <p:cNvPr id="44" name="bloque-2"/>
          <p:cNvSpPr/>
          <p:nvPr/>
        </p:nvSpPr>
        <p:spPr>
          <a:xfrm>
            <a:off x="4315968" y="4251960"/>
            <a:ext cx="3520440" cy="1874520"/>
          </a:xfrm>
          <a:prstGeom prst="roundRect">
            <a:avLst>
              <a:gd name="adj" fmla="val 5854"/>
            </a:avLst>
          </a:prstGeom>
          <a:solidFill>
            <a:schemeClr val="bg2"/>
          </a:solidFill>
          <a:ln/>
          <a:effectLst>
            <a:outerShdw sx="100000" sy="100000" kx="0" ky="0" algn="bl" rotWithShape="0" blurRad="101600" dist="25400" dir="5400000">
              <a:srgbClr val="0E2A3B">
                <a:alpha val="12000"/>
              </a:srgbClr>
            </a:outerShdw>
          </a:effectLst>
        </p:spPr>
      </p:sp>
      <p:sp>
        <p:nvSpPr>
          <p:cNvPr id="45" name="circulo-bloque2"/>
          <p:cNvSpPr/>
          <p:nvPr/>
        </p:nvSpPr>
        <p:spPr>
          <a:xfrm>
            <a:off x="4590288" y="4526280"/>
            <a:ext cx="640080" cy="640080"/>
          </a:xfrm>
          <a:prstGeom prst="ellipse">
            <a:avLst/>
          </a:prstGeom>
          <a:solidFill>
            <a:srgbClr val="5B6B76"/>
          </a:solidFill>
          <a:ln/>
        </p:spPr>
      </p:sp>
      <p:pic>
        <p:nvPicPr>
          <p:cNvPr id="46" name="icono-bloque2" descr="preencoded.png">    </p:cNvPr>
          <p:cNvPicPr>
            <a:picLocks noChangeAspect="1"/>
          </p:cNvPicPr>
          <p:nvPr/>
        </p:nvPicPr>
        <p:blipFill>
          <a:blip r:embed="rId2"/>
          <a:stretch>
            <a:fillRect/>
          </a:stretch>
        </p:blipFill>
        <p:spPr>
          <a:xfrm>
            <a:off x="4743907" y="4679899"/>
            <a:ext cx="332842" cy="332842"/>
          </a:xfrm>
          <a:prstGeom prst="rect">
            <a:avLst/>
          </a:prstGeom>
        </p:spPr>
      </p:pic>
      <p:sp>
        <p:nvSpPr>
          <p:cNvPr id="47" name="Text 43"/>
          <p:cNvSpPr txBox="1"/>
          <p:nvPr/>
        </p:nvSpPr>
        <p:spPr>
          <a:xfrm>
            <a:off x="5367528" y="4526280"/>
            <a:ext cx="2331720" cy="640080"/>
          </a:xfrm>
          <a:prstGeom prst="rect">
            <a:avLst/>
          </a:prstGeom>
          <a:noFill/>
          <a:ln/>
        </p:spPr>
        <p:txBody>
          <a:bodyPr wrap="square" lIns="0" tIns="0" rIns="0" bIns="0" rtlCol="0" anchor="ctr"/>
          <a:lstStyle/>
          <a:p>
            <a:pPr indent="0" marL="0">
              <a:buNone/>
            </a:pPr>
            <a:r>
              <a:rPr lang="en-US" sz="1700" b="1" dirty="0">
                <a:solidFill>
                  <a:schemeClr val="tx2"/>
                </a:solidFill>
              </a:rPr>
              <a:t>Puntajes de riesgo</a:t>
            </a:r>
            <a:endParaRPr lang="en-US" sz="1700" dirty="0"/>
          </a:p>
        </p:txBody>
      </p:sp>
      <p:sp>
        <p:nvSpPr>
          <p:cNvPr id="48" name="Text 44"/>
          <p:cNvSpPr txBox="1"/>
          <p:nvPr/>
        </p:nvSpPr>
        <p:spPr>
          <a:xfrm>
            <a:off x="4590288" y="5257800"/>
            <a:ext cx="3063240" cy="777240"/>
          </a:xfrm>
          <a:prstGeom prst="rect">
            <a:avLst/>
          </a:prstGeom>
          <a:noFill/>
          <a:ln/>
        </p:spPr>
        <p:txBody>
          <a:bodyPr wrap="square" lIns="0" tIns="0" rIns="0" bIns="0" rtlCol="0" anchor="t"/>
          <a:lstStyle/>
          <a:p>
            <a:pPr indent="0" marL="0">
              <a:buNone/>
            </a:pPr>
            <a:r>
              <a:rPr lang="en-US" sz="1400" dirty="0">
                <a:solidFill>
                  <a:schemeClr val="tx1"/>
                </a:solidFill>
              </a:rPr>
              <a:t>20 000 pacientes sintéticos y un modelo de riesgo. Alimentan los actos 1, 2b, 3 y 4.</a:t>
            </a:r>
            <a:endParaRPr lang="en-US" sz="1400" dirty="0"/>
          </a:p>
        </p:txBody>
      </p:sp>
      <p:sp>
        <p:nvSpPr>
          <p:cNvPr id="49" name="bloque-3"/>
          <p:cNvSpPr/>
          <p:nvPr/>
        </p:nvSpPr>
        <p:spPr>
          <a:xfrm>
            <a:off x="8083296" y="4251960"/>
            <a:ext cx="3520440" cy="1874520"/>
          </a:xfrm>
          <a:prstGeom prst="roundRect">
            <a:avLst>
              <a:gd name="adj" fmla="val 5854"/>
            </a:avLst>
          </a:prstGeom>
          <a:solidFill>
            <a:schemeClr val="bg2"/>
          </a:solidFill>
          <a:ln/>
          <a:effectLst>
            <a:outerShdw sx="100000" sy="100000" kx="0" ky="0" algn="bl" rotWithShape="0" blurRad="101600" dist="25400" dir="5400000">
              <a:srgbClr val="0E2A3B">
                <a:alpha val="12000"/>
              </a:srgbClr>
            </a:outerShdw>
          </a:effectLst>
        </p:spPr>
      </p:sp>
      <p:sp>
        <p:nvSpPr>
          <p:cNvPr id="50" name="circulo-bloque3"/>
          <p:cNvSpPr/>
          <p:nvPr/>
        </p:nvSpPr>
        <p:spPr>
          <a:xfrm>
            <a:off x="8357616" y="4526280"/>
            <a:ext cx="640080" cy="640080"/>
          </a:xfrm>
          <a:prstGeom prst="ellipse">
            <a:avLst/>
          </a:prstGeom>
          <a:solidFill>
            <a:srgbClr val="E05A3A"/>
          </a:solidFill>
          <a:ln/>
        </p:spPr>
      </p:sp>
      <p:pic>
        <p:nvPicPr>
          <p:cNvPr id="51" name="icono-bloque3" descr="preencoded.png">    </p:cNvPr>
          <p:cNvPicPr>
            <a:picLocks noChangeAspect="1"/>
          </p:cNvPicPr>
          <p:nvPr/>
        </p:nvPicPr>
        <p:blipFill>
          <a:blip r:embed="rId3"/>
          <a:stretch>
            <a:fillRect/>
          </a:stretch>
        </p:blipFill>
        <p:spPr>
          <a:xfrm>
            <a:off x="8511235" y="4679899"/>
            <a:ext cx="332842" cy="332842"/>
          </a:xfrm>
          <a:prstGeom prst="rect">
            <a:avLst/>
          </a:prstGeom>
        </p:spPr>
      </p:pic>
      <p:sp>
        <p:nvSpPr>
          <p:cNvPr id="52" name="Text 47"/>
          <p:cNvSpPr txBox="1"/>
          <p:nvPr/>
        </p:nvSpPr>
        <p:spPr>
          <a:xfrm>
            <a:off x="9134856" y="4526280"/>
            <a:ext cx="2331720" cy="640080"/>
          </a:xfrm>
          <a:prstGeom prst="rect">
            <a:avLst/>
          </a:prstGeom>
          <a:noFill/>
          <a:ln/>
        </p:spPr>
        <p:txBody>
          <a:bodyPr wrap="square" lIns="0" tIns="0" rIns="0" bIns="0" rtlCol="0" anchor="ctr"/>
          <a:lstStyle/>
          <a:p>
            <a:pPr indent="0" marL="0">
              <a:buNone/>
            </a:pPr>
            <a:r>
              <a:rPr lang="en-US" sz="1700" b="1" dirty="0">
                <a:solidFill>
                  <a:schemeClr val="tx2"/>
                </a:solidFill>
              </a:rPr>
              <a:t>Estructura de cada acto</a:t>
            </a:r>
            <a:endParaRPr lang="en-US" sz="1700" dirty="0"/>
          </a:p>
        </p:txBody>
      </p:sp>
      <p:sp>
        <p:nvSpPr>
          <p:cNvPr id="53" name="Text 48"/>
          <p:cNvSpPr txBox="1"/>
          <p:nvPr/>
        </p:nvSpPr>
        <p:spPr>
          <a:xfrm>
            <a:off x="8357616" y="5257800"/>
            <a:ext cx="3063240" cy="777240"/>
          </a:xfrm>
          <a:prstGeom prst="rect">
            <a:avLst/>
          </a:prstGeom>
          <a:noFill/>
          <a:ln/>
        </p:spPr>
        <p:txBody>
          <a:bodyPr wrap="square" lIns="0" tIns="0" rIns="0" bIns="0" rtlCol="0" anchor="t"/>
          <a:lstStyle/>
          <a:p>
            <a:pPr indent="0" marL="0">
              <a:buNone/>
            </a:pPr>
            <a:r>
              <a:rPr lang="en-US" sz="1400" dirty="0">
                <a:solidFill>
                  <a:schemeClr val="tx1"/>
                </a:solidFill>
              </a:rPr>
              <a:t>Descripción, objetivo, resultado y mensaje clave, ligados a una sección del paper.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7373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No se vende «diagnóstico automático»: se vende menos carga documental con riesgo acotado y trazable</a:t>
            </a:r>
            <a:endParaRPr lang="en-US" sz="3200" dirty="0"/>
          </a:p>
        </p:txBody>
      </p:sp>
      <p:sp>
        <p:nvSpPr>
          <p:cNvPr id="3" name="circulo-conclusion1"/>
          <p:cNvSpPr/>
          <p:nvPr/>
        </p:nvSpPr>
        <p:spPr>
          <a:xfrm>
            <a:off x="731520" y="2788920"/>
            <a:ext cx="868680" cy="868680"/>
          </a:xfrm>
          <a:prstGeom prst="ellipse">
            <a:avLst/>
          </a:prstGeom>
          <a:solidFill>
            <a:srgbClr val="127C80"/>
          </a:solidFill>
          <a:ln/>
        </p:spPr>
      </p:sp>
      <p:pic>
        <p:nvPicPr>
          <p:cNvPr id="4" name="icono-conclusion1" descr="preencoded.png">    </p:cNvPr>
          <p:cNvPicPr>
            <a:picLocks noChangeAspect="1"/>
          </p:cNvPicPr>
          <p:nvPr/>
        </p:nvPicPr>
        <p:blipFill>
          <a:blip r:embed="rId1"/>
          <a:stretch>
            <a:fillRect/>
          </a:stretch>
        </p:blipFill>
        <p:spPr>
          <a:xfrm>
            <a:off x="940003" y="2997403"/>
            <a:ext cx="451714" cy="451714"/>
          </a:xfrm>
          <a:prstGeom prst="rect">
            <a:avLst/>
          </a:prstGeom>
        </p:spPr>
      </p:pic>
      <p:sp>
        <p:nvSpPr>
          <p:cNvPr id="5" name="Text 2"/>
          <p:cNvSpPr txBox="1"/>
          <p:nvPr/>
        </p:nvSpPr>
        <p:spPr>
          <a:xfrm>
            <a:off x="731520" y="3840480"/>
            <a:ext cx="329184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Calibrar antes de decidir</a:t>
            </a:r>
            <a:endParaRPr lang="en-US" sz="2000" dirty="0"/>
          </a:p>
        </p:txBody>
      </p:sp>
      <p:sp>
        <p:nvSpPr>
          <p:cNvPr id="6" name="Text 3"/>
          <p:cNvSpPr txBox="1"/>
          <p:nvPr/>
        </p:nvSpPr>
        <p:spPr>
          <a:xfrm>
            <a:off x="731520" y="4343400"/>
            <a:ext cx="3200400" cy="731520"/>
          </a:xfrm>
          <a:prstGeom prst="rect">
            <a:avLst/>
          </a:prstGeom>
          <a:noFill/>
          <a:ln/>
        </p:spPr>
        <p:txBody>
          <a:bodyPr wrap="square" lIns="0" tIns="0" rIns="0" bIns="0" rtlCol="0" anchor="t"/>
          <a:lstStyle/>
          <a:p>
            <a:pPr indent="0" marL="0">
              <a:buNone/>
            </a:pPr>
            <a:r>
              <a:rPr lang="en-US" sz="1500" dirty="0">
                <a:solidFill>
                  <a:schemeClr val="accent3"/>
                </a:solidFill>
              </a:rPr>
              <a:t>La confianza debe significar lo que dice</a:t>
            </a:r>
            <a:endParaRPr lang="en-US" sz="1500" dirty="0"/>
          </a:p>
        </p:txBody>
      </p:sp>
      <p:sp>
        <p:nvSpPr>
          <p:cNvPr id="7" name="circulo-conclusion2"/>
          <p:cNvSpPr/>
          <p:nvPr/>
        </p:nvSpPr>
        <p:spPr>
          <a:xfrm>
            <a:off x="4389120" y="2788920"/>
            <a:ext cx="868680" cy="868680"/>
          </a:xfrm>
          <a:prstGeom prst="ellipse">
            <a:avLst/>
          </a:prstGeom>
          <a:solidFill>
            <a:srgbClr val="5B6B76"/>
          </a:solidFill>
          <a:ln/>
        </p:spPr>
      </p:sp>
      <p:pic>
        <p:nvPicPr>
          <p:cNvPr id="8" name="icono-conclusion2" descr="preencoded.png">    </p:cNvPr>
          <p:cNvPicPr>
            <a:picLocks noChangeAspect="1"/>
          </p:cNvPicPr>
          <p:nvPr/>
        </p:nvPicPr>
        <p:blipFill>
          <a:blip r:embed="rId2"/>
          <a:stretch>
            <a:fillRect/>
          </a:stretch>
        </p:blipFill>
        <p:spPr>
          <a:xfrm>
            <a:off x="4597603" y="2997403"/>
            <a:ext cx="451714" cy="451714"/>
          </a:xfrm>
          <a:prstGeom prst="rect">
            <a:avLst/>
          </a:prstGeom>
        </p:spPr>
      </p:pic>
      <p:sp>
        <p:nvSpPr>
          <p:cNvPr id="9" name="Text 5"/>
          <p:cNvSpPr txBox="1"/>
          <p:nvPr/>
        </p:nvSpPr>
        <p:spPr>
          <a:xfrm>
            <a:off x="4389120" y="3840480"/>
            <a:ext cx="329184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Verificar con evidencia</a:t>
            </a:r>
            <a:endParaRPr lang="en-US" sz="2000" dirty="0"/>
          </a:p>
        </p:txBody>
      </p:sp>
      <p:sp>
        <p:nvSpPr>
          <p:cNvPr id="10" name="Text 6"/>
          <p:cNvSpPr txBox="1"/>
          <p:nvPr/>
        </p:nvSpPr>
        <p:spPr>
          <a:xfrm>
            <a:off x="4389120" y="4343400"/>
            <a:ext cx="3200400" cy="731520"/>
          </a:xfrm>
          <a:prstGeom prst="rect">
            <a:avLst/>
          </a:prstGeom>
          <a:noFill/>
          <a:ln/>
        </p:spPr>
        <p:txBody>
          <a:bodyPr wrap="square" lIns="0" tIns="0" rIns="0" bIns="0" rtlCol="0" anchor="t"/>
          <a:lstStyle/>
          <a:p>
            <a:pPr indent="0" marL="0">
              <a:buNone/>
            </a:pPr>
            <a:r>
              <a:rPr lang="en-US" sz="1500" dirty="0">
                <a:solidFill>
                  <a:schemeClr val="accent3"/>
                </a:solidFill>
              </a:rPr>
              <a:t>Toda afirmación cita su fuente; la similitud no basta</a:t>
            </a:r>
            <a:endParaRPr lang="en-US" sz="1500" dirty="0"/>
          </a:p>
        </p:txBody>
      </p:sp>
      <p:sp>
        <p:nvSpPr>
          <p:cNvPr id="11" name="circulo-conclusion3"/>
          <p:cNvSpPr/>
          <p:nvPr/>
        </p:nvSpPr>
        <p:spPr>
          <a:xfrm>
            <a:off x="8046720" y="2788920"/>
            <a:ext cx="868680" cy="868680"/>
          </a:xfrm>
          <a:prstGeom prst="ellipse">
            <a:avLst/>
          </a:prstGeom>
          <a:solidFill>
            <a:srgbClr val="E05A3A"/>
          </a:solidFill>
          <a:ln/>
        </p:spPr>
      </p:sp>
      <p:pic>
        <p:nvPicPr>
          <p:cNvPr id="12" name="icono-conclusion3" descr="preencoded.png">    </p:cNvPr>
          <p:cNvPicPr>
            <a:picLocks noChangeAspect="1"/>
          </p:cNvPicPr>
          <p:nvPr/>
        </p:nvPicPr>
        <p:blipFill>
          <a:blip r:embed="rId3"/>
          <a:stretch>
            <a:fillRect/>
          </a:stretch>
        </p:blipFill>
        <p:spPr>
          <a:xfrm>
            <a:off x="8255203" y="2997403"/>
            <a:ext cx="451714" cy="451714"/>
          </a:xfrm>
          <a:prstGeom prst="rect">
            <a:avLst/>
          </a:prstGeom>
        </p:spPr>
      </p:pic>
      <p:sp>
        <p:nvSpPr>
          <p:cNvPr id="13" name="Text 8"/>
          <p:cNvSpPr txBox="1"/>
          <p:nvPr/>
        </p:nvSpPr>
        <p:spPr>
          <a:xfrm>
            <a:off x="8046720" y="3840480"/>
            <a:ext cx="329184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Supervisar y auditar</a:t>
            </a:r>
            <a:endParaRPr lang="en-US" sz="2000" dirty="0"/>
          </a:p>
        </p:txBody>
      </p:sp>
      <p:sp>
        <p:nvSpPr>
          <p:cNvPr id="14" name="Text 9"/>
          <p:cNvSpPr txBox="1"/>
          <p:nvPr/>
        </p:nvSpPr>
        <p:spPr>
          <a:xfrm>
            <a:off x="8046720" y="4343400"/>
            <a:ext cx="3200400" cy="731520"/>
          </a:xfrm>
          <a:prstGeom prst="rect">
            <a:avLst/>
          </a:prstGeom>
          <a:noFill/>
          <a:ln/>
        </p:spPr>
        <p:txBody>
          <a:bodyPr wrap="square" lIns="0" tIns="0" rIns="0" bIns="0" rtlCol="0" anchor="t"/>
          <a:lstStyle/>
          <a:p>
            <a:pPr indent="0" marL="0">
              <a:buNone/>
            </a:pPr>
            <a:r>
              <a:rPr lang="en-US" sz="1500" dirty="0">
                <a:solidFill>
                  <a:schemeClr val="accent3"/>
                </a:solidFill>
              </a:rPr>
              <a:t>Medir ρ y declarar la métrica de equidad</a:t>
            </a:r>
            <a:endParaRPr lang="en-US" sz="1500" dirty="0"/>
          </a:p>
        </p:txBody>
      </p:sp>
      <p:sp>
        <p:nvSpPr>
          <p:cNvPr id="15" name="Text 10"/>
          <p:cNvSpPr txBox="1"/>
          <p:nvPr/>
        </p:nvSpPr>
        <p:spPr>
          <a:xfrm>
            <a:off x="731520" y="5440680"/>
            <a:ext cx="10698480" cy="548640"/>
          </a:xfrm>
          <a:prstGeom prst="rect">
            <a:avLst/>
          </a:prstGeom>
          <a:noFill/>
          <a:ln/>
        </p:spPr>
        <p:txBody>
          <a:bodyPr wrap="square" lIns="0" tIns="0" rIns="0" bIns="0" rtlCol="0" anchor="t"/>
          <a:lstStyle/>
          <a:p>
            <a:pPr indent="0" marL="0">
              <a:buNone/>
            </a:pPr>
            <a:r>
              <a:rPr lang="en-US" sz="1700" i="1" dirty="0">
                <a:solidFill>
                  <a:schemeClr val="bg1"/>
                </a:solidFill>
              </a:rPr>
              <a:t>La revisión humana no es un sobrecosto: es el precio de la responsabilidad legal y del cumplimiento regulatorio.</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1 de 7</a:t>
            </a:r>
            <a:endParaRPr lang="en-US" sz="3000" dirty="0"/>
          </a:p>
        </p:txBody>
      </p:sp>
      <p:sp>
        <p:nvSpPr>
          <p:cNvPr id="3" name="pregunta-1"/>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1"/>
          <p:cNvSpPr/>
          <p:nvPr/>
        </p:nvSpPr>
        <p:spPr>
          <a:xfrm>
            <a:off x="868680" y="1600200"/>
            <a:ext cx="777240" cy="777240"/>
          </a:xfrm>
          <a:prstGeom prst="ellipse">
            <a:avLst/>
          </a:prstGeom>
          <a:solidFill>
            <a:srgbClr val="E05A3A"/>
          </a:solidFill>
          <a:ln/>
        </p:spPr>
      </p:sp>
      <p:pic>
        <p:nvPicPr>
          <p:cNvPr id="5" name="icono-pregunta1"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Introducción</a:t>
            </a:r>
            <a:endParaRPr lang="en-US" sz="1400" dirty="0"/>
          </a:p>
          <a:p>
            <a:pPr indent="0" marL="0">
              <a:buNone/>
            </a:pPr>
            <a:r>
              <a:rPr lang="en-US" sz="2100" b="1" dirty="0">
                <a:solidFill>
                  <a:schemeClr val="bg1"/>
                </a:solidFill>
              </a:rPr>
              <a:t>¿Por qué el artículo base prefiere el término «bullshit» en lugar de «alucinación»?</a:t>
            </a:r>
            <a:endParaRPr lang="en-US" sz="1400" dirty="0"/>
          </a:p>
        </p:txBody>
      </p:sp>
      <p:sp>
        <p:nvSpPr>
          <p:cNvPr id="7" name="opcion-1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1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los LLM perciben mal sus datos de entrenamiento</a:t>
            </a:r>
            <a:endParaRPr lang="en-US" sz="1800" dirty="0"/>
          </a:p>
        </p:txBody>
      </p:sp>
      <p:sp>
        <p:nvSpPr>
          <p:cNvPr id="11" name="opcion-1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1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el modelo produce texto plausible con indiferencia hacia su verdad</a:t>
            </a:r>
            <a:endParaRPr lang="en-US" sz="1800" dirty="0"/>
          </a:p>
        </p:txBody>
      </p:sp>
      <p:sp>
        <p:nvSpPr>
          <p:cNvPr id="15" name="opcion-1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1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los errores desaparecen con más datos</a:t>
            </a:r>
            <a:endParaRPr lang="en-US" sz="1800" dirty="0"/>
          </a:p>
        </p:txBody>
      </p:sp>
      <p:sp>
        <p:nvSpPr>
          <p:cNvPr id="19" name="opcion-1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1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los LLM mienten de forma intencional</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1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¿Por qué el artículo base prefiere el término «bullshit» en lugar de «alucinación»?</a:t>
            </a:r>
            <a:endParaRPr lang="en-US" sz="1600" dirty="0"/>
          </a:p>
        </p:txBody>
      </p:sp>
      <p:sp>
        <p:nvSpPr>
          <p:cNvPr id="4" name="resp-1A"/>
          <p:cNvSpPr/>
          <p:nvPr/>
        </p:nvSpPr>
        <p:spPr>
          <a:xfrm>
            <a:off x="548640"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5" name="resp-letra-1A"/>
          <p:cNvSpPr/>
          <p:nvPr/>
        </p:nvSpPr>
        <p:spPr>
          <a:xfrm>
            <a:off x="777240" y="2148840"/>
            <a:ext cx="548640" cy="548640"/>
          </a:xfrm>
          <a:prstGeom prst="ellipse">
            <a:avLst/>
          </a:prstGeom>
          <a:solidFill>
            <a:schemeClr val="accent6"/>
          </a:solidFill>
          <a:ln/>
        </p:spPr>
      </p:sp>
      <p:sp>
        <p:nvSpPr>
          <p:cNvPr id="6" name="Text 4"/>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7" name="Text 5"/>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los LLM perciben mal sus datos de entrenamiento</a:t>
            </a:r>
            <a:endParaRPr lang="en-US" sz="1500" dirty="0"/>
          </a:p>
        </p:txBody>
      </p:sp>
      <p:sp>
        <p:nvSpPr>
          <p:cNvPr id="8" name="resp-1B"/>
          <p:cNvSpPr/>
          <p:nvPr/>
        </p:nvSpPr>
        <p:spPr>
          <a:xfrm>
            <a:off x="6245352" y="196596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9" name="circulo-correcta1"/>
          <p:cNvSpPr/>
          <p:nvPr/>
        </p:nvSpPr>
        <p:spPr>
          <a:xfrm>
            <a:off x="6473952" y="2148840"/>
            <a:ext cx="548640" cy="548640"/>
          </a:xfrm>
          <a:prstGeom prst="ellipse">
            <a:avLst/>
          </a:prstGeom>
          <a:solidFill>
            <a:srgbClr val="FFFFFF"/>
          </a:solidFill>
          <a:ln/>
        </p:spPr>
      </p:sp>
      <p:pic>
        <p:nvPicPr>
          <p:cNvPr id="10" name="icono-correcta1" descr="preencoded.png">    </p:cNvPr>
          <p:cNvPicPr>
            <a:picLocks noChangeAspect="1"/>
          </p:cNvPicPr>
          <p:nvPr/>
        </p:nvPicPr>
        <p:blipFill>
          <a:blip r:embed="rId1"/>
          <a:stretch>
            <a:fillRect/>
          </a:stretch>
        </p:blipFill>
        <p:spPr>
          <a:xfrm>
            <a:off x="6605626" y="2280514"/>
            <a:ext cx="285293" cy="285293"/>
          </a:xfrm>
          <a:prstGeom prst="rect">
            <a:avLst/>
          </a:prstGeom>
        </p:spPr>
      </p:pic>
      <p:sp>
        <p:nvSpPr>
          <p:cNvPr id="11" name="Text 8"/>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B. Porque el modelo produce texto plausible con indiferencia hacia su verdad</a:t>
            </a:r>
            <a:endParaRPr lang="en-US" sz="1500" dirty="0"/>
          </a:p>
        </p:txBody>
      </p:sp>
      <p:sp>
        <p:nvSpPr>
          <p:cNvPr id="12" name="resp-1C"/>
          <p:cNvSpPr/>
          <p:nvPr/>
        </p:nvSpPr>
        <p:spPr>
          <a:xfrm>
            <a:off x="548640"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3" name="resp-letra-1C"/>
          <p:cNvSpPr/>
          <p:nvPr/>
        </p:nvSpPr>
        <p:spPr>
          <a:xfrm>
            <a:off x="777240" y="3246120"/>
            <a:ext cx="548640" cy="548640"/>
          </a:xfrm>
          <a:prstGeom prst="ellipse">
            <a:avLst/>
          </a:prstGeom>
          <a:solidFill>
            <a:schemeClr val="accent6"/>
          </a:solidFill>
          <a:ln/>
        </p:spPr>
      </p:sp>
      <p:sp>
        <p:nvSpPr>
          <p:cNvPr id="14" name="Text 11"/>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Text 12"/>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los errores desaparecen con más datos</a:t>
            </a:r>
            <a:endParaRPr lang="en-US" sz="1500" dirty="0"/>
          </a:p>
        </p:txBody>
      </p:sp>
      <p:sp>
        <p:nvSpPr>
          <p:cNvPr id="16" name="resp-1D"/>
          <p:cNvSpPr/>
          <p:nvPr/>
        </p:nvSpPr>
        <p:spPr>
          <a:xfrm>
            <a:off x="6245352"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7" name="resp-letra-1D"/>
          <p:cNvSpPr/>
          <p:nvPr/>
        </p:nvSpPr>
        <p:spPr>
          <a:xfrm>
            <a:off x="6473952" y="3246120"/>
            <a:ext cx="548640" cy="548640"/>
          </a:xfrm>
          <a:prstGeom prst="ellipse">
            <a:avLst/>
          </a:prstGeom>
          <a:solidFill>
            <a:schemeClr val="accent6"/>
          </a:solidFill>
          <a:ln/>
        </p:spPr>
      </p:sp>
      <p:sp>
        <p:nvSpPr>
          <p:cNvPr id="18" name="Text 15"/>
          <p:cNvSpPr txBox="1"/>
          <p:nvPr/>
        </p:nvSpPr>
        <p:spPr>
          <a:xfrm>
            <a:off x="6473952"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los LLM mienten de forma intencional</a:t>
            </a:r>
            <a:endParaRPr lang="en-US" sz="1500" dirty="0"/>
          </a:p>
        </p:txBody>
      </p:sp>
      <p:sp>
        <p:nvSpPr>
          <p:cNvPr id="20" name="explicacion-1"/>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1"/>
          <p:cNvSpPr/>
          <p:nvPr/>
        </p:nvSpPr>
        <p:spPr>
          <a:xfrm>
            <a:off x="868680" y="4617720"/>
            <a:ext cx="731520" cy="731520"/>
          </a:xfrm>
          <a:prstGeom prst="ellipse">
            <a:avLst/>
          </a:prstGeom>
          <a:solidFill>
            <a:srgbClr val="F2A33A"/>
          </a:solidFill>
          <a:ln/>
        </p:spPr>
      </p:sp>
      <p:pic>
        <p:nvPicPr>
          <p:cNvPr id="22" name="icono-explicacion1"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B. ¿Por qué?</a:t>
            </a:r>
            <a:endParaRPr lang="en-US" sz="1400" dirty="0"/>
          </a:p>
          <a:p>
            <a:pPr indent="0" marL="0">
              <a:buNone/>
            </a:pPr>
            <a:r>
              <a:rPr lang="en-US" sz="1600" dirty="0">
                <a:solidFill>
                  <a:schemeClr val="tx1"/>
                </a:solidFill>
              </a:rPr>
              <a:t>«Alucinación» sugiere una percepción fallida y, por tanto, corregible. Bullshit, en el sentido de Frankfurt, es indiferencia hacia la verdad: el modelo no intenta informar ni engañar, solo producir texto verosímil. Por eso no se corrige con un mejor modelo, sino que se contiene con un sistema.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2 de 7</a:t>
            </a:r>
            <a:endParaRPr lang="en-US" sz="3000" dirty="0"/>
          </a:p>
        </p:txBody>
      </p:sp>
      <p:sp>
        <p:nvSpPr>
          <p:cNvPr id="3" name="pregunta-2"/>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2"/>
          <p:cNvSpPr/>
          <p:nvPr/>
        </p:nvSpPr>
        <p:spPr>
          <a:xfrm>
            <a:off x="868680" y="1600200"/>
            <a:ext cx="777240" cy="777240"/>
          </a:xfrm>
          <a:prstGeom prst="ellipse">
            <a:avLst/>
          </a:prstGeom>
          <a:solidFill>
            <a:srgbClr val="E05A3A"/>
          </a:solidFill>
          <a:ln/>
        </p:spPr>
      </p:sp>
      <p:pic>
        <p:nvPicPr>
          <p:cNvPr id="5" name="icono-pregunta2"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Capa 1</a:t>
            </a:r>
            <a:endParaRPr lang="en-US" sz="1400" dirty="0"/>
          </a:p>
          <a:p>
            <a:pPr indent="0" marL="0">
              <a:buNone/>
            </a:pPr>
            <a:r>
              <a:rPr lang="en-US" sz="2100" b="1" dirty="0">
                <a:solidFill>
                  <a:schemeClr val="bg1"/>
                </a:solidFill>
              </a:rPr>
              <a:t>En la ecuación (1), la entropía cruzada se divide en dos términos: H y KL. ¿Qué reduce el entrenamiento?</a:t>
            </a:r>
            <a:endParaRPr lang="en-US" sz="1400" dirty="0"/>
          </a:p>
        </p:txBody>
      </p:sp>
      <p:sp>
        <p:nvSpPr>
          <p:cNvPr id="7" name="opcion-2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2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La entropía del lenguaje (término H)</a:t>
            </a:r>
            <a:endParaRPr lang="en-US" sz="1800" dirty="0"/>
          </a:p>
        </p:txBody>
      </p:sp>
      <p:sp>
        <p:nvSpPr>
          <p:cNvPr id="11" name="opcion-2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2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La distancia entre lo afirmado y los hechos</a:t>
            </a:r>
            <a:endParaRPr lang="en-US" sz="1800" dirty="0"/>
          </a:p>
        </p:txBody>
      </p:sp>
      <p:sp>
        <p:nvSpPr>
          <p:cNvPr id="15" name="opcion-2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2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La divergencia KL entre el modelo y el texto</a:t>
            </a:r>
            <a:endParaRPr lang="en-US" sz="1800" dirty="0"/>
          </a:p>
        </p:txBody>
      </p:sp>
      <p:sp>
        <p:nvSpPr>
          <p:cNvPr id="19" name="opcion-2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2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Ambos términos por igual</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2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En la ecuación (1), la entropía cruzada se divide en dos términos: H y KL. ¿Qué reduce el entrenamiento?</a:t>
            </a:r>
            <a:endParaRPr lang="en-US" sz="1600" dirty="0"/>
          </a:p>
        </p:txBody>
      </p:sp>
      <p:sp>
        <p:nvSpPr>
          <p:cNvPr id="4" name="resp-2A"/>
          <p:cNvSpPr/>
          <p:nvPr/>
        </p:nvSpPr>
        <p:spPr>
          <a:xfrm>
            <a:off x="548640"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5" name="resp-letra-2A"/>
          <p:cNvSpPr/>
          <p:nvPr/>
        </p:nvSpPr>
        <p:spPr>
          <a:xfrm>
            <a:off x="777240" y="2148840"/>
            <a:ext cx="548640" cy="548640"/>
          </a:xfrm>
          <a:prstGeom prst="ellipse">
            <a:avLst/>
          </a:prstGeom>
          <a:solidFill>
            <a:schemeClr val="accent6"/>
          </a:solidFill>
          <a:ln/>
        </p:spPr>
      </p:sp>
      <p:sp>
        <p:nvSpPr>
          <p:cNvPr id="6" name="Text 4"/>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7" name="Text 5"/>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La entropía del lenguaje (término H)</a:t>
            </a:r>
            <a:endParaRPr lang="en-US" sz="1500" dirty="0"/>
          </a:p>
        </p:txBody>
      </p:sp>
      <p:sp>
        <p:nvSpPr>
          <p:cNvPr id="8" name="resp-2B"/>
          <p:cNvSpPr/>
          <p:nvPr/>
        </p:nvSpPr>
        <p:spPr>
          <a:xfrm>
            <a:off x="6245352"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9" name="resp-letra-2B"/>
          <p:cNvSpPr/>
          <p:nvPr/>
        </p:nvSpPr>
        <p:spPr>
          <a:xfrm>
            <a:off x="6473952" y="2148840"/>
            <a:ext cx="548640" cy="548640"/>
          </a:xfrm>
          <a:prstGeom prst="ellipse">
            <a:avLst/>
          </a:prstGeom>
          <a:solidFill>
            <a:schemeClr val="accent6"/>
          </a:solidFill>
          <a:ln/>
        </p:spPr>
      </p:sp>
      <p:sp>
        <p:nvSpPr>
          <p:cNvPr id="10" name="Text 8"/>
          <p:cNvSpPr txBox="1"/>
          <p:nvPr/>
        </p:nvSpPr>
        <p:spPr>
          <a:xfrm>
            <a:off x="6473952"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9"/>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La distancia entre lo afirmado y los hechos</a:t>
            </a:r>
            <a:endParaRPr lang="en-US" sz="1500" dirty="0"/>
          </a:p>
        </p:txBody>
      </p:sp>
      <p:sp>
        <p:nvSpPr>
          <p:cNvPr id="12" name="resp-2C"/>
          <p:cNvSpPr/>
          <p:nvPr/>
        </p:nvSpPr>
        <p:spPr>
          <a:xfrm>
            <a:off x="548640" y="306324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13" name="circulo-correcta2"/>
          <p:cNvSpPr/>
          <p:nvPr/>
        </p:nvSpPr>
        <p:spPr>
          <a:xfrm>
            <a:off x="777240" y="3246120"/>
            <a:ext cx="548640" cy="548640"/>
          </a:xfrm>
          <a:prstGeom prst="ellipse">
            <a:avLst/>
          </a:prstGeom>
          <a:solidFill>
            <a:srgbClr val="FFFFFF"/>
          </a:solidFill>
          <a:ln/>
        </p:spPr>
      </p:sp>
      <p:pic>
        <p:nvPicPr>
          <p:cNvPr id="14" name="icono-correcta2" descr="preencoded.png">    </p:cNvPr>
          <p:cNvPicPr>
            <a:picLocks noChangeAspect="1"/>
          </p:cNvPicPr>
          <p:nvPr/>
        </p:nvPicPr>
        <p:blipFill>
          <a:blip r:embed="rId1"/>
          <a:stretch>
            <a:fillRect/>
          </a:stretch>
        </p:blipFill>
        <p:spPr>
          <a:xfrm>
            <a:off x="908914" y="3377794"/>
            <a:ext cx="285293" cy="285293"/>
          </a:xfrm>
          <a:prstGeom prst="rect">
            <a:avLst/>
          </a:prstGeom>
        </p:spPr>
      </p:pic>
      <p:sp>
        <p:nvSpPr>
          <p:cNvPr id="15" name="Text 12"/>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C. La divergencia KL entre el modelo y el texto</a:t>
            </a:r>
            <a:endParaRPr lang="en-US" sz="1500" dirty="0"/>
          </a:p>
        </p:txBody>
      </p:sp>
      <p:sp>
        <p:nvSpPr>
          <p:cNvPr id="16" name="resp-2D"/>
          <p:cNvSpPr/>
          <p:nvPr/>
        </p:nvSpPr>
        <p:spPr>
          <a:xfrm>
            <a:off x="6245352"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7" name="resp-letra-2D"/>
          <p:cNvSpPr/>
          <p:nvPr/>
        </p:nvSpPr>
        <p:spPr>
          <a:xfrm>
            <a:off x="6473952" y="3246120"/>
            <a:ext cx="548640" cy="548640"/>
          </a:xfrm>
          <a:prstGeom prst="ellipse">
            <a:avLst/>
          </a:prstGeom>
          <a:solidFill>
            <a:schemeClr val="accent6"/>
          </a:solidFill>
          <a:ln/>
        </p:spPr>
      </p:sp>
      <p:sp>
        <p:nvSpPr>
          <p:cNvPr id="18" name="Text 15"/>
          <p:cNvSpPr txBox="1"/>
          <p:nvPr/>
        </p:nvSpPr>
        <p:spPr>
          <a:xfrm>
            <a:off x="6473952"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Ambos términos por igual</a:t>
            </a:r>
            <a:endParaRPr lang="en-US" sz="1500" dirty="0"/>
          </a:p>
        </p:txBody>
      </p:sp>
      <p:sp>
        <p:nvSpPr>
          <p:cNvPr id="20" name="explicacion-2"/>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2"/>
          <p:cNvSpPr/>
          <p:nvPr/>
        </p:nvSpPr>
        <p:spPr>
          <a:xfrm>
            <a:off x="868680" y="4617720"/>
            <a:ext cx="731520" cy="731520"/>
          </a:xfrm>
          <a:prstGeom prst="ellipse">
            <a:avLst/>
          </a:prstGeom>
          <a:solidFill>
            <a:srgbClr val="F2A33A"/>
          </a:solidFill>
          <a:ln/>
        </p:spPr>
      </p:sp>
      <p:pic>
        <p:nvPicPr>
          <p:cNvPr id="22" name="icono-explicacion2"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C. ¿Por qué?</a:t>
            </a:r>
            <a:endParaRPr lang="en-US" sz="1400" dirty="0"/>
          </a:p>
          <a:p>
            <a:pPr indent="0" marL="0">
              <a:buNone/>
            </a:pPr>
            <a:r>
              <a:rPr lang="en-US" sz="1600" dirty="0">
                <a:solidFill>
                  <a:schemeClr val="tx1"/>
                </a:solidFill>
              </a:rPr>
              <a:t>La entropía H mide cuán impredecible es el lenguaje y no depende del modelo. Entrenar solo reduce la KL, es decir, acerca el modelo al texto. Ningún término compara lo afirmado con los hechos: una falsedad frecuente es «correcta» para el objetivo.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3 de 7</a:t>
            </a:r>
            <a:endParaRPr lang="en-US" sz="3000" dirty="0"/>
          </a:p>
        </p:txBody>
      </p:sp>
      <p:sp>
        <p:nvSpPr>
          <p:cNvPr id="3" name="pregunta-3"/>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3"/>
          <p:cNvSpPr/>
          <p:nvPr/>
        </p:nvSpPr>
        <p:spPr>
          <a:xfrm>
            <a:off x="868680" y="1600200"/>
            <a:ext cx="777240" cy="777240"/>
          </a:xfrm>
          <a:prstGeom prst="ellipse">
            <a:avLst/>
          </a:prstGeom>
          <a:solidFill>
            <a:srgbClr val="E05A3A"/>
          </a:solidFill>
          <a:ln/>
        </p:spPr>
      </p:sp>
      <p:pic>
        <p:nvPicPr>
          <p:cNvPr id="5" name="icono-pregunta3"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Capa 1</a:t>
            </a:r>
            <a:endParaRPr lang="en-US" sz="1400" dirty="0"/>
          </a:p>
          <a:p>
            <a:pPr indent="0" marL="0">
              <a:buNone/>
            </a:pPr>
            <a:r>
              <a:rPr lang="en-US" sz="2100" b="1" dirty="0">
                <a:solidFill>
                  <a:schemeClr val="bg1"/>
                </a:solidFill>
              </a:rPr>
              <a:t>¿Qué mide el error de calibración esperado (ECE)?</a:t>
            </a:r>
            <a:endParaRPr lang="en-US" sz="1400" dirty="0"/>
          </a:p>
        </p:txBody>
      </p:sp>
      <p:sp>
        <p:nvSpPr>
          <p:cNvPr id="7" name="opcion-3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3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La brecha promedio entre la confianza declarada y el acierto real</a:t>
            </a:r>
            <a:endParaRPr lang="en-US" sz="1800" dirty="0"/>
          </a:p>
        </p:txBody>
      </p:sp>
      <p:sp>
        <p:nvSpPr>
          <p:cNvPr id="11" name="opcion-3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3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El porcentaje de respuestas incorrectas del modelo</a:t>
            </a:r>
            <a:endParaRPr lang="en-US" sz="1800" dirty="0"/>
          </a:p>
        </p:txBody>
      </p:sp>
      <p:sp>
        <p:nvSpPr>
          <p:cNvPr id="15" name="opcion-3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3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La similitud entre la respuesta y la evidencia</a:t>
            </a:r>
            <a:endParaRPr lang="en-US" sz="1800" dirty="0"/>
          </a:p>
        </p:txBody>
      </p:sp>
      <p:sp>
        <p:nvSpPr>
          <p:cNvPr id="19" name="opcion-3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3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La diferencia de errores entre grupos de pacientes</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3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¿Qué mide el error de calibración esperado (ECE)?</a:t>
            </a:r>
            <a:endParaRPr lang="en-US" sz="1600" dirty="0"/>
          </a:p>
        </p:txBody>
      </p:sp>
      <p:sp>
        <p:nvSpPr>
          <p:cNvPr id="4" name="resp-3A"/>
          <p:cNvSpPr/>
          <p:nvPr/>
        </p:nvSpPr>
        <p:spPr>
          <a:xfrm>
            <a:off x="548640" y="196596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5" name="circulo-correcta3"/>
          <p:cNvSpPr/>
          <p:nvPr/>
        </p:nvSpPr>
        <p:spPr>
          <a:xfrm>
            <a:off x="777240" y="2148840"/>
            <a:ext cx="548640" cy="548640"/>
          </a:xfrm>
          <a:prstGeom prst="ellipse">
            <a:avLst/>
          </a:prstGeom>
          <a:solidFill>
            <a:srgbClr val="FFFFFF"/>
          </a:solidFill>
          <a:ln/>
        </p:spPr>
      </p:sp>
      <p:pic>
        <p:nvPicPr>
          <p:cNvPr id="6" name="icono-correcta3" descr="preencoded.png">    </p:cNvPr>
          <p:cNvPicPr>
            <a:picLocks noChangeAspect="1"/>
          </p:cNvPicPr>
          <p:nvPr/>
        </p:nvPicPr>
        <p:blipFill>
          <a:blip r:embed="rId1"/>
          <a:stretch>
            <a:fillRect/>
          </a:stretch>
        </p:blipFill>
        <p:spPr>
          <a:xfrm>
            <a:off x="908914" y="2280514"/>
            <a:ext cx="285293" cy="285293"/>
          </a:xfrm>
          <a:prstGeom prst="rect">
            <a:avLst/>
          </a:prstGeom>
        </p:spPr>
      </p:pic>
      <p:sp>
        <p:nvSpPr>
          <p:cNvPr id="7" name="Text 4"/>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A. La brecha promedio entre la confianza declarada y el acierto real</a:t>
            </a:r>
            <a:endParaRPr lang="en-US" sz="1500" dirty="0"/>
          </a:p>
        </p:txBody>
      </p:sp>
      <p:sp>
        <p:nvSpPr>
          <p:cNvPr id="8" name="resp-3B"/>
          <p:cNvSpPr/>
          <p:nvPr/>
        </p:nvSpPr>
        <p:spPr>
          <a:xfrm>
            <a:off x="6245352"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9" name="resp-letra-3B"/>
          <p:cNvSpPr/>
          <p:nvPr/>
        </p:nvSpPr>
        <p:spPr>
          <a:xfrm>
            <a:off x="6473952" y="2148840"/>
            <a:ext cx="548640" cy="548640"/>
          </a:xfrm>
          <a:prstGeom prst="ellipse">
            <a:avLst/>
          </a:prstGeom>
          <a:solidFill>
            <a:schemeClr val="accent6"/>
          </a:solidFill>
          <a:ln/>
        </p:spPr>
      </p:sp>
      <p:sp>
        <p:nvSpPr>
          <p:cNvPr id="10" name="Text 7"/>
          <p:cNvSpPr txBox="1"/>
          <p:nvPr/>
        </p:nvSpPr>
        <p:spPr>
          <a:xfrm>
            <a:off x="6473952"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8"/>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El porcentaje de respuestas incorrectas del modelo</a:t>
            </a:r>
            <a:endParaRPr lang="en-US" sz="1500" dirty="0"/>
          </a:p>
        </p:txBody>
      </p:sp>
      <p:sp>
        <p:nvSpPr>
          <p:cNvPr id="12" name="resp-3C"/>
          <p:cNvSpPr/>
          <p:nvPr/>
        </p:nvSpPr>
        <p:spPr>
          <a:xfrm>
            <a:off x="548640"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3" name="resp-letra-3C"/>
          <p:cNvSpPr/>
          <p:nvPr/>
        </p:nvSpPr>
        <p:spPr>
          <a:xfrm>
            <a:off x="777240" y="3246120"/>
            <a:ext cx="548640" cy="548640"/>
          </a:xfrm>
          <a:prstGeom prst="ellipse">
            <a:avLst/>
          </a:prstGeom>
          <a:solidFill>
            <a:schemeClr val="accent6"/>
          </a:solidFill>
          <a:ln/>
        </p:spPr>
      </p:sp>
      <p:sp>
        <p:nvSpPr>
          <p:cNvPr id="14" name="Text 11"/>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Text 12"/>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La similitud entre la respuesta y la evidencia</a:t>
            </a:r>
            <a:endParaRPr lang="en-US" sz="1500" dirty="0"/>
          </a:p>
        </p:txBody>
      </p:sp>
      <p:sp>
        <p:nvSpPr>
          <p:cNvPr id="16" name="resp-3D"/>
          <p:cNvSpPr/>
          <p:nvPr/>
        </p:nvSpPr>
        <p:spPr>
          <a:xfrm>
            <a:off x="6245352"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7" name="resp-letra-3D"/>
          <p:cNvSpPr/>
          <p:nvPr/>
        </p:nvSpPr>
        <p:spPr>
          <a:xfrm>
            <a:off x="6473952" y="3246120"/>
            <a:ext cx="548640" cy="548640"/>
          </a:xfrm>
          <a:prstGeom prst="ellipse">
            <a:avLst/>
          </a:prstGeom>
          <a:solidFill>
            <a:schemeClr val="accent6"/>
          </a:solidFill>
          <a:ln/>
        </p:spPr>
      </p:sp>
      <p:sp>
        <p:nvSpPr>
          <p:cNvPr id="18" name="Text 15"/>
          <p:cNvSpPr txBox="1"/>
          <p:nvPr/>
        </p:nvSpPr>
        <p:spPr>
          <a:xfrm>
            <a:off x="6473952"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La diferencia de errores entre grupos de pacientes</a:t>
            </a:r>
            <a:endParaRPr lang="en-US" sz="1500" dirty="0"/>
          </a:p>
        </p:txBody>
      </p:sp>
      <p:sp>
        <p:nvSpPr>
          <p:cNvPr id="20" name="explicacion-3"/>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3"/>
          <p:cNvSpPr/>
          <p:nvPr/>
        </p:nvSpPr>
        <p:spPr>
          <a:xfrm>
            <a:off x="868680" y="4617720"/>
            <a:ext cx="731520" cy="731520"/>
          </a:xfrm>
          <a:prstGeom prst="ellipse">
            <a:avLst/>
          </a:prstGeom>
          <a:solidFill>
            <a:srgbClr val="F2A33A"/>
          </a:solidFill>
          <a:ln/>
        </p:spPr>
      </p:sp>
      <p:pic>
        <p:nvPicPr>
          <p:cNvPr id="22" name="icono-explicacion3"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A. ¿Por qué?</a:t>
            </a:r>
            <a:endParaRPr lang="en-US" sz="1400" dirty="0"/>
          </a:p>
          <a:p>
            <a:pPr indent="0" marL="0">
              <a:buNone/>
            </a:pPr>
            <a:r>
              <a:rPr lang="en-US" sz="1600" dirty="0">
                <a:solidFill>
                  <a:schemeClr val="tx1"/>
                </a:solidFill>
              </a:rPr>
              <a:t>Un modelo calibrado que declara 80 % de confianza acierta el 80 % de las veces. En la demo, temperature scaling bajó el ECE de 0,096 a 0,013. Sin calibración, el umbral de escalado de la capa 3 no tendría sentido.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4 de 7</a:t>
            </a:r>
            <a:endParaRPr lang="en-US" sz="3000" dirty="0"/>
          </a:p>
        </p:txBody>
      </p:sp>
      <p:sp>
        <p:nvSpPr>
          <p:cNvPr id="3" name="pregunta-4"/>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4"/>
          <p:cNvSpPr/>
          <p:nvPr/>
        </p:nvSpPr>
        <p:spPr>
          <a:xfrm>
            <a:off x="868680" y="1600200"/>
            <a:ext cx="777240" cy="777240"/>
          </a:xfrm>
          <a:prstGeom prst="ellipse">
            <a:avLst/>
          </a:prstGeom>
          <a:solidFill>
            <a:srgbClr val="E05A3A"/>
          </a:solidFill>
          <a:ln/>
        </p:spPr>
      </p:sp>
      <p:pic>
        <p:nvPicPr>
          <p:cNvPr id="5" name="icono-pregunta4"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Capa 2</a:t>
            </a:r>
            <a:endParaRPr lang="en-US" sz="1400" dirty="0"/>
          </a:p>
          <a:p>
            <a:pPr indent="0" marL="0">
              <a:buNone/>
            </a:pPr>
            <a:r>
              <a:rPr lang="en-US" sz="2100" b="1" dirty="0">
                <a:solidFill>
                  <a:schemeClr val="bg1"/>
                </a:solidFill>
              </a:rPr>
              <a:t>¿Por qué la regla de solo similitud deja pasar «250 mg por kg» si la evidencia dice «25 mg por kg»?</a:t>
            </a:r>
            <a:endParaRPr lang="en-US" sz="1400" dirty="0"/>
          </a:p>
        </p:txBody>
      </p:sp>
      <p:sp>
        <p:nvSpPr>
          <p:cNvPr id="7" name="opcion-4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4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la base de evidencia está desactualizada</a:t>
            </a:r>
            <a:endParaRPr lang="en-US" sz="1800" dirty="0"/>
          </a:p>
        </p:txBody>
      </p:sp>
      <p:sp>
        <p:nvSpPr>
          <p:cNvPr id="11" name="opcion-4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4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el umbral de similitud τs es demasiado alto</a:t>
            </a:r>
            <a:endParaRPr lang="en-US" sz="1800" dirty="0"/>
          </a:p>
        </p:txBody>
      </p:sp>
      <p:sp>
        <p:nvSpPr>
          <p:cNvPr id="15" name="opcion-4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4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el modelo NLI se equivoca</a:t>
            </a:r>
            <a:endParaRPr lang="en-US" sz="1800" dirty="0"/>
          </a:p>
        </p:txBody>
      </p:sp>
      <p:sp>
        <p:nvSpPr>
          <p:cNvPr id="19" name="opcion-4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4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ambas frases comparten casi todo el texto, aunque se contradicen</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4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¿Por qué la regla de solo similitud deja pasar «250 mg por kg» si la evidencia dice «25 mg por kg»?</a:t>
            </a:r>
            <a:endParaRPr lang="en-US" sz="1600" dirty="0"/>
          </a:p>
        </p:txBody>
      </p:sp>
      <p:sp>
        <p:nvSpPr>
          <p:cNvPr id="4" name="resp-4A"/>
          <p:cNvSpPr/>
          <p:nvPr/>
        </p:nvSpPr>
        <p:spPr>
          <a:xfrm>
            <a:off x="548640"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5" name="resp-letra-4A"/>
          <p:cNvSpPr/>
          <p:nvPr/>
        </p:nvSpPr>
        <p:spPr>
          <a:xfrm>
            <a:off x="777240" y="2148840"/>
            <a:ext cx="548640" cy="548640"/>
          </a:xfrm>
          <a:prstGeom prst="ellipse">
            <a:avLst/>
          </a:prstGeom>
          <a:solidFill>
            <a:schemeClr val="accent6"/>
          </a:solidFill>
          <a:ln/>
        </p:spPr>
      </p:sp>
      <p:sp>
        <p:nvSpPr>
          <p:cNvPr id="6" name="Text 4"/>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7" name="Text 5"/>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la base de evidencia está desactualizada</a:t>
            </a:r>
            <a:endParaRPr lang="en-US" sz="1500" dirty="0"/>
          </a:p>
        </p:txBody>
      </p:sp>
      <p:sp>
        <p:nvSpPr>
          <p:cNvPr id="8" name="resp-4B"/>
          <p:cNvSpPr/>
          <p:nvPr/>
        </p:nvSpPr>
        <p:spPr>
          <a:xfrm>
            <a:off x="6245352"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9" name="resp-letra-4B"/>
          <p:cNvSpPr/>
          <p:nvPr/>
        </p:nvSpPr>
        <p:spPr>
          <a:xfrm>
            <a:off x="6473952" y="2148840"/>
            <a:ext cx="548640" cy="548640"/>
          </a:xfrm>
          <a:prstGeom prst="ellipse">
            <a:avLst/>
          </a:prstGeom>
          <a:solidFill>
            <a:schemeClr val="accent6"/>
          </a:solidFill>
          <a:ln/>
        </p:spPr>
      </p:sp>
      <p:sp>
        <p:nvSpPr>
          <p:cNvPr id="10" name="Text 8"/>
          <p:cNvSpPr txBox="1"/>
          <p:nvPr/>
        </p:nvSpPr>
        <p:spPr>
          <a:xfrm>
            <a:off x="6473952"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9"/>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el umbral de similitud τs es demasiado alto</a:t>
            </a:r>
            <a:endParaRPr lang="en-US" sz="1500" dirty="0"/>
          </a:p>
        </p:txBody>
      </p:sp>
      <p:sp>
        <p:nvSpPr>
          <p:cNvPr id="12" name="resp-4C"/>
          <p:cNvSpPr/>
          <p:nvPr/>
        </p:nvSpPr>
        <p:spPr>
          <a:xfrm>
            <a:off x="548640"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3" name="resp-letra-4C"/>
          <p:cNvSpPr/>
          <p:nvPr/>
        </p:nvSpPr>
        <p:spPr>
          <a:xfrm>
            <a:off x="777240" y="3246120"/>
            <a:ext cx="548640" cy="548640"/>
          </a:xfrm>
          <a:prstGeom prst="ellipse">
            <a:avLst/>
          </a:prstGeom>
          <a:solidFill>
            <a:schemeClr val="accent6"/>
          </a:solidFill>
          <a:ln/>
        </p:spPr>
      </p:sp>
      <p:sp>
        <p:nvSpPr>
          <p:cNvPr id="14" name="Text 12"/>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Text 13"/>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el modelo NLI se equivoca</a:t>
            </a:r>
            <a:endParaRPr lang="en-US" sz="1500" dirty="0"/>
          </a:p>
        </p:txBody>
      </p:sp>
      <p:sp>
        <p:nvSpPr>
          <p:cNvPr id="16" name="resp-4D"/>
          <p:cNvSpPr/>
          <p:nvPr/>
        </p:nvSpPr>
        <p:spPr>
          <a:xfrm>
            <a:off x="6245352" y="306324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17" name="circulo-correcta4"/>
          <p:cNvSpPr/>
          <p:nvPr/>
        </p:nvSpPr>
        <p:spPr>
          <a:xfrm>
            <a:off x="6473952" y="3246120"/>
            <a:ext cx="548640" cy="548640"/>
          </a:xfrm>
          <a:prstGeom prst="ellipse">
            <a:avLst/>
          </a:prstGeom>
          <a:solidFill>
            <a:srgbClr val="FFFFFF"/>
          </a:solidFill>
          <a:ln/>
        </p:spPr>
      </p:sp>
      <p:pic>
        <p:nvPicPr>
          <p:cNvPr id="18" name="icono-correcta4" descr="preencoded.png">    </p:cNvPr>
          <p:cNvPicPr>
            <a:picLocks noChangeAspect="1"/>
          </p:cNvPicPr>
          <p:nvPr/>
        </p:nvPicPr>
        <p:blipFill>
          <a:blip r:embed="rId1"/>
          <a:stretch>
            <a:fillRect/>
          </a:stretch>
        </p:blipFill>
        <p:spPr>
          <a:xfrm>
            <a:off x="6605626" y="3377794"/>
            <a:ext cx="285293" cy="285293"/>
          </a:xfrm>
          <a:prstGeom prst="rect">
            <a:avLst/>
          </a:prstGeom>
        </p:spPr>
      </p:pic>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D. Porque ambas frases comparten casi todo el texto, aunque se contradicen</a:t>
            </a:r>
            <a:endParaRPr lang="en-US" sz="1500" dirty="0"/>
          </a:p>
        </p:txBody>
      </p:sp>
      <p:sp>
        <p:nvSpPr>
          <p:cNvPr id="20" name="explicacion-4"/>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4"/>
          <p:cNvSpPr/>
          <p:nvPr/>
        </p:nvSpPr>
        <p:spPr>
          <a:xfrm>
            <a:off x="868680" y="4617720"/>
            <a:ext cx="731520" cy="731520"/>
          </a:xfrm>
          <a:prstGeom prst="ellipse">
            <a:avLst/>
          </a:prstGeom>
          <a:solidFill>
            <a:srgbClr val="F2A33A"/>
          </a:solidFill>
          <a:ln/>
        </p:spPr>
      </p:sp>
      <p:pic>
        <p:nvPicPr>
          <p:cNvPr id="22" name="icono-explicacion4"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D. ¿Por qué?</a:t>
            </a:r>
            <a:endParaRPr lang="en-US" sz="1400" dirty="0"/>
          </a:p>
          <a:p>
            <a:pPr indent="0" marL="0">
              <a:buNone/>
            </a:pPr>
            <a:r>
              <a:rPr lang="en-US" sz="1600" dirty="0">
                <a:solidFill>
                  <a:schemeClr val="tx1"/>
                </a:solidFill>
              </a:rPr>
              <a:t>La similitud mide si dos frases hablan del mismo tema, no si dicen lo mismo. Por eso la ecuación (2) exige además la implicación lógica (NLI). En la demo, con el verificador las afirmaciones falsas que pasan bajan de 5 a 1.</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5 de 7</a:t>
            </a:r>
            <a:endParaRPr lang="en-US" sz="3000" dirty="0"/>
          </a:p>
        </p:txBody>
      </p:sp>
      <p:sp>
        <p:nvSpPr>
          <p:cNvPr id="3" name="pregunta-5"/>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5"/>
          <p:cNvSpPr/>
          <p:nvPr/>
        </p:nvSpPr>
        <p:spPr>
          <a:xfrm>
            <a:off x="868680" y="1600200"/>
            <a:ext cx="777240" cy="777240"/>
          </a:xfrm>
          <a:prstGeom prst="ellipse">
            <a:avLst/>
          </a:prstGeom>
          <a:solidFill>
            <a:srgbClr val="E05A3A"/>
          </a:solidFill>
          <a:ln/>
        </p:spPr>
      </p:sp>
      <p:pic>
        <p:nvPicPr>
          <p:cNvPr id="5" name="icono-pregunta5"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Capa 3</a:t>
            </a:r>
            <a:endParaRPr lang="en-US" sz="1400" dirty="0"/>
          </a:p>
          <a:p>
            <a:pPr indent="0" marL="0">
              <a:buNone/>
            </a:pPr>
            <a:r>
              <a:rPr lang="en-US" sz="2100" b="1" dirty="0">
                <a:solidFill>
                  <a:schemeClr val="bg1"/>
                </a:solidFill>
              </a:rPr>
              <a:t>Si revisar cuesta la cuarta parte de lo que cuesta un error y el revisor detecta todos los errores (ρ = 1), ¿qué hace el sistema?</a:t>
            </a:r>
            <a:endParaRPr lang="en-US" sz="1400" dirty="0"/>
          </a:p>
        </p:txBody>
      </p:sp>
      <p:sp>
        <p:nvSpPr>
          <p:cNvPr id="7" name="opcion-5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5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Escala todas las salidas a un profesional</a:t>
            </a:r>
            <a:endParaRPr lang="en-US" sz="1800" dirty="0"/>
          </a:p>
        </p:txBody>
      </p:sp>
      <p:sp>
        <p:nvSpPr>
          <p:cNvPr id="11" name="opcion-5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5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Escala las salidas con menos de 75 % de confianza</a:t>
            </a:r>
            <a:endParaRPr lang="en-US" sz="1800" dirty="0"/>
          </a:p>
        </p:txBody>
      </p:sp>
      <p:sp>
        <p:nvSpPr>
          <p:cNvPr id="15" name="opcion-5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5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Escala las salidas con más de 75 % de confianza</a:t>
            </a:r>
            <a:endParaRPr lang="en-US" sz="1800" dirty="0"/>
          </a:p>
        </p:txBody>
      </p:sp>
      <p:sp>
        <p:nvSpPr>
          <p:cNvPr id="19" name="opcion-5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5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Nunca escala: entrega todo directamente</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5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Si revisar cuesta la cuarta parte de lo que cuesta un error y el revisor detecta todos los errores (ρ = 1), ¿qué hace el sistema?</a:t>
            </a:r>
            <a:endParaRPr lang="en-US" sz="1600" dirty="0"/>
          </a:p>
        </p:txBody>
      </p:sp>
      <p:sp>
        <p:nvSpPr>
          <p:cNvPr id="4" name="resp-5A"/>
          <p:cNvSpPr/>
          <p:nvPr/>
        </p:nvSpPr>
        <p:spPr>
          <a:xfrm>
            <a:off x="548640"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5" name="resp-letra-5A"/>
          <p:cNvSpPr/>
          <p:nvPr/>
        </p:nvSpPr>
        <p:spPr>
          <a:xfrm>
            <a:off x="777240" y="2148840"/>
            <a:ext cx="548640" cy="548640"/>
          </a:xfrm>
          <a:prstGeom prst="ellipse">
            <a:avLst/>
          </a:prstGeom>
          <a:solidFill>
            <a:schemeClr val="accent6"/>
          </a:solidFill>
          <a:ln/>
        </p:spPr>
      </p:sp>
      <p:sp>
        <p:nvSpPr>
          <p:cNvPr id="6" name="Text 4"/>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7" name="Text 5"/>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Escala todas las salidas a un profesional</a:t>
            </a:r>
            <a:endParaRPr lang="en-US" sz="1500" dirty="0"/>
          </a:p>
        </p:txBody>
      </p:sp>
      <p:sp>
        <p:nvSpPr>
          <p:cNvPr id="8" name="resp-5B"/>
          <p:cNvSpPr/>
          <p:nvPr/>
        </p:nvSpPr>
        <p:spPr>
          <a:xfrm>
            <a:off x="6245352" y="196596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9" name="circulo-correcta5"/>
          <p:cNvSpPr/>
          <p:nvPr/>
        </p:nvSpPr>
        <p:spPr>
          <a:xfrm>
            <a:off x="6473952" y="2148840"/>
            <a:ext cx="548640" cy="548640"/>
          </a:xfrm>
          <a:prstGeom prst="ellipse">
            <a:avLst/>
          </a:prstGeom>
          <a:solidFill>
            <a:srgbClr val="FFFFFF"/>
          </a:solidFill>
          <a:ln/>
        </p:spPr>
      </p:sp>
      <p:pic>
        <p:nvPicPr>
          <p:cNvPr id="10" name="icono-correcta5" descr="preencoded.png">    </p:cNvPr>
          <p:cNvPicPr>
            <a:picLocks noChangeAspect="1"/>
          </p:cNvPicPr>
          <p:nvPr/>
        </p:nvPicPr>
        <p:blipFill>
          <a:blip r:embed="rId1"/>
          <a:stretch>
            <a:fillRect/>
          </a:stretch>
        </p:blipFill>
        <p:spPr>
          <a:xfrm>
            <a:off x="6605626" y="2280514"/>
            <a:ext cx="285293" cy="285293"/>
          </a:xfrm>
          <a:prstGeom prst="rect">
            <a:avLst/>
          </a:prstGeom>
        </p:spPr>
      </p:pic>
      <p:sp>
        <p:nvSpPr>
          <p:cNvPr id="11" name="Text 8"/>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B. Escala las salidas con menos de 75 % de confianza</a:t>
            </a:r>
            <a:endParaRPr lang="en-US" sz="1500" dirty="0"/>
          </a:p>
        </p:txBody>
      </p:sp>
      <p:sp>
        <p:nvSpPr>
          <p:cNvPr id="12" name="resp-5C"/>
          <p:cNvSpPr/>
          <p:nvPr/>
        </p:nvSpPr>
        <p:spPr>
          <a:xfrm>
            <a:off x="548640"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3" name="resp-letra-5C"/>
          <p:cNvSpPr/>
          <p:nvPr/>
        </p:nvSpPr>
        <p:spPr>
          <a:xfrm>
            <a:off x="777240" y="3246120"/>
            <a:ext cx="548640" cy="548640"/>
          </a:xfrm>
          <a:prstGeom prst="ellipse">
            <a:avLst/>
          </a:prstGeom>
          <a:solidFill>
            <a:schemeClr val="accent6"/>
          </a:solidFill>
          <a:ln/>
        </p:spPr>
      </p:sp>
      <p:sp>
        <p:nvSpPr>
          <p:cNvPr id="14" name="Text 11"/>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Text 12"/>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Escala las salidas con más de 75 % de confianza</a:t>
            </a:r>
            <a:endParaRPr lang="en-US" sz="1500" dirty="0"/>
          </a:p>
        </p:txBody>
      </p:sp>
      <p:sp>
        <p:nvSpPr>
          <p:cNvPr id="16" name="resp-5D"/>
          <p:cNvSpPr/>
          <p:nvPr/>
        </p:nvSpPr>
        <p:spPr>
          <a:xfrm>
            <a:off x="6245352"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7" name="resp-letra-5D"/>
          <p:cNvSpPr/>
          <p:nvPr/>
        </p:nvSpPr>
        <p:spPr>
          <a:xfrm>
            <a:off x="6473952" y="3246120"/>
            <a:ext cx="548640" cy="548640"/>
          </a:xfrm>
          <a:prstGeom prst="ellipse">
            <a:avLst/>
          </a:prstGeom>
          <a:solidFill>
            <a:schemeClr val="accent6"/>
          </a:solidFill>
          <a:ln/>
        </p:spPr>
      </p:sp>
      <p:sp>
        <p:nvSpPr>
          <p:cNvPr id="18" name="Text 15"/>
          <p:cNvSpPr txBox="1"/>
          <p:nvPr/>
        </p:nvSpPr>
        <p:spPr>
          <a:xfrm>
            <a:off x="6473952"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Nunca escala: entrega todo directamente</a:t>
            </a:r>
            <a:endParaRPr lang="en-US" sz="1500" dirty="0"/>
          </a:p>
        </p:txBody>
      </p:sp>
      <p:sp>
        <p:nvSpPr>
          <p:cNvPr id="20" name="explicacion-5"/>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5"/>
          <p:cNvSpPr/>
          <p:nvPr/>
        </p:nvSpPr>
        <p:spPr>
          <a:xfrm>
            <a:off x="868680" y="4617720"/>
            <a:ext cx="731520" cy="731520"/>
          </a:xfrm>
          <a:prstGeom prst="ellipse">
            <a:avLst/>
          </a:prstGeom>
          <a:solidFill>
            <a:srgbClr val="F2A33A"/>
          </a:solidFill>
          <a:ln/>
        </p:spPr>
      </p:sp>
      <p:pic>
        <p:nvPicPr>
          <p:cNvPr id="22" name="icono-explicacion5"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B. ¿Por qué?</a:t>
            </a:r>
            <a:endParaRPr lang="en-US" sz="1400" dirty="0"/>
          </a:p>
          <a:p>
            <a:pPr indent="0" marL="0">
              <a:buNone/>
            </a:pPr>
            <a:r>
              <a:rPr lang="en-US" sz="1600" dirty="0">
                <a:solidFill>
                  <a:schemeClr val="tx1"/>
                </a:solidFill>
              </a:rPr>
              <a:t>Según la ecuación (3), se escala si π &lt; 1 − 0,25 / 1 = 0,75. Por debajo de 75 % de confianza, el riesgo de error (más de 25 %) cuesta más que la revisión. Si el revisor solo detecta la mitad de los errores (ρ = 0,5), el umbral cae a 50 % y revisar deja de compensar.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6 de 7</a:t>
            </a:r>
            <a:endParaRPr lang="en-US" sz="3000" dirty="0"/>
          </a:p>
        </p:txBody>
      </p:sp>
      <p:sp>
        <p:nvSpPr>
          <p:cNvPr id="3" name="pregunta-6"/>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6"/>
          <p:cNvSpPr/>
          <p:nvPr/>
        </p:nvSpPr>
        <p:spPr>
          <a:xfrm>
            <a:off x="868680" y="1600200"/>
            <a:ext cx="777240" cy="777240"/>
          </a:xfrm>
          <a:prstGeom prst="ellipse">
            <a:avLst/>
          </a:prstGeom>
          <a:solidFill>
            <a:srgbClr val="E05A3A"/>
          </a:solidFill>
          <a:ln/>
        </p:spPr>
      </p:sp>
      <p:pic>
        <p:nvPicPr>
          <p:cNvPr id="5" name="icono-pregunta6"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Capa 3</a:t>
            </a:r>
            <a:endParaRPr lang="en-US" sz="1400" dirty="0"/>
          </a:p>
          <a:p>
            <a:pPr indent="0" marL="0">
              <a:buNone/>
            </a:pPr>
            <a:r>
              <a:rPr lang="en-US" sz="2100" b="1" dirty="0">
                <a:solidFill>
                  <a:schemeClr val="bg1"/>
                </a:solidFill>
              </a:rPr>
              <a:t>¿Qué ocurre cuando el revisor humano solo «firma» lo que propone la IA (ρ bajo)?</a:t>
            </a:r>
            <a:endParaRPr lang="en-US" sz="1400" dirty="0"/>
          </a:p>
        </p:txBody>
      </p:sp>
      <p:sp>
        <p:nvSpPr>
          <p:cNvPr id="7" name="opcion-6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6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El error que llega al paciente vuelve casi al nivel sin supervisión</a:t>
            </a:r>
            <a:endParaRPr lang="en-US" sz="1800" dirty="0"/>
          </a:p>
        </p:txBody>
      </p:sp>
      <p:sp>
        <p:nvSpPr>
          <p:cNvPr id="11" name="opcion-6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6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El error baja, porque se revisan más casos</a:t>
            </a:r>
            <a:endParaRPr lang="en-US" sz="1800" dirty="0"/>
          </a:p>
        </p:txBody>
      </p:sp>
      <p:sp>
        <p:nvSpPr>
          <p:cNvPr id="15" name="opcion-6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6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El modelo se recalibra automáticamente</a:t>
            </a:r>
            <a:endParaRPr lang="en-US" sz="1800" dirty="0"/>
          </a:p>
        </p:txBody>
      </p:sp>
      <p:sp>
        <p:nvSpPr>
          <p:cNvPr id="19" name="opcion-6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6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Nada cambia, porque el umbral es el mismo</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6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¿Qué ocurre cuando el revisor humano solo «firma» lo que propone la IA (ρ bajo)?</a:t>
            </a:r>
            <a:endParaRPr lang="en-US" sz="1600" dirty="0"/>
          </a:p>
        </p:txBody>
      </p:sp>
      <p:sp>
        <p:nvSpPr>
          <p:cNvPr id="4" name="resp-6A"/>
          <p:cNvSpPr/>
          <p:nvPr/>
        </p:nvSpPr>
        <p:spPr>
          <a:xfrm>
            <a:off x="548640" y="196596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5" name="circulo-correcta6"/>
          <p:cNvSpPr/>
          <p:nvPr/>
        </p:nvSpPr>
        <p:spPr>
          <a:xfrm>
            <a:off x="777240" y="2148840"/>
            <a:ext cx="548640" cy="548640"/>
          </a:xfrm>
          <a:prstGeom prst="ellipse">
            <a:avLst/>
          </a:prstGeom>
          <a:solidFill>
            <a:srgbClr val="FFFFFF"/>
          </a:solidFill>
          <a:ln/>
        </p:spPr>
      </p:sp>
      <p:pic>
        <p:nvPicPr>
          <p:cNvPr id="6" name="icono-correcta6" descr="preencoded.png">    </p:cNvPr>
          <p:cNvPicPr>
            <a:picLocks noChangeAspect="1"/>
          </p:cNvPicPr>
          <p:nvPr/>
        </p:nvPicPr>
        <p:blipFill>
          <a:blip r:embed="rId1"/>
          <a:stretch>
            <a:fillRect/>
          </a:stretch>
        </p:blipFill>
        <p:spPr>
          <a:xfrm>
            <a:off x="908914" y="2280514"/>
            <a:ext cx="285293" cy="285293"/>
          </a:xfrm>
          <a:prstGeom prst="rect">
            <a:avLst/>
          </a:prstGeom>
        </p:spPr>
      </p:pic>
      <p:sp>
        <p:nvSpPr>
          <p:cNvPr id="7" name="Text 4"/>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A. El error que llega al paciente vuelve casi al nivel sin supervisión</a:t>
            </a:r>
            <a:endParaRPr lang="en-US" sz="1500" dirty="0"/>
          </a:p>
        </p:txBody>
      </p:sp>
      <p:sp>
        <p:nvSpPr>
          <p:cNvPr id="8" name="resp-6B"/>
          <p:cNvSpPr/>
          <p:nvPr/>
        </p:nvSpPr>
        <p:spPr>
          <a:xfrm>
            <a:off x="6245352"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9" name="resp-letra-6B"/>
          <p:cNvSpPr/>
          <p:nvPr/>
        </p:nvSpPr>
        <p:spPr>
          <a:xfrm>
            <a:off x="6473952" y="2148840"/>
            <a:ext cx="548640" cy="548640"/>
          </a:xfrm>
          <a:prstGeom prst="ellipse">
            <a:avLst/>
          </a:prstGeom>
          <a:solidFill>
            <a:schemeClr val="accent6"/>
          </a:solidFill>
          <a:ln/>
        </p:spPr>
      </p:sp>
      <p:sp>
        <p:nvSpPr>
          <p:cNvPr id="10" name="Text 7"/>
          <p:cNvSpPr txBox="1"/>
          <p:nvPr/>
        </p:nvSpPr>
        <p:spPr>
          <a:xfrm>
            <a:off x="6473952"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8"/>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El error baja, porque se revisan más casos</a:t>
            </a:r>
            <a:endParaRPr lang="en-US" sz="1500" dirty="0"/>
          </a:p>
        </p:txBody>
      </p:sp>
      <p:sp>
        <p:nvSpPr>
          <p:cNvPr id="12" name="resp-6C"/>
          <p:cNvSpPr/>
          <p:nvPr/>
        </p:nvSpPr>
        <p:spPr>
          <a:xfrm>
            <a:off x="548640"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3" name="resp-letra-6C"/>
          <p:cNvSpPr/>
          <p:nvPr/>
        </p:nvSpPr>
        <p:spPr>
          <a:xfrm>
            <a:off x="777240" y="3246120"/>
            <a:ext cx="548640" cy="548640"/>
          </a:xfrm>
          <a:prstGeom prst="ellipse">
            <a:avLst/>
          </a:prstGeom>
          <a:solidFill>
            <a:schemeClr val="accent6"/>
          </a:solidFill>
          <a:ln/>
        </p:spPr>
      </p:sp>
      <p:sp>
        <p:nvSpPr>
          <p:cNvPr id="14" name="Text 11"/>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5" name="Text 12"/>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El modelo se recalibra automáticamente</a:t>
            </a:r>
            <a:endParaRPr lang="en-US" sz="1500" dirty="0"/>
          </a:p>
        </p:txBody>
      </p:sp>
      <p:sp>
        <p:nvSpPr>
          <p:cNvPr id="16" name="resp-6D"/>
          <p:cNvSpPr/>
          <p:nvPr/>
        </p:nvSpPr>
        <p:spPr>
          <a:xfrm>
            <a:off x="6245352"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7" name="resp-letra-6D"/>
          <p:cNvSpPr/>
          <p:nvPr/>
        </p:nvSpPr>
        <p:spPr>
          <a:xfrm>
            <a:off x="6473952" y="3246120"/>
            <a:ext cx="548640" cy="548640"/>
          </a:xfrm>
          <a:prstGeom prst="ellipse">
            <a:avLst/>
          </a:prstGeom>
          <a:solidFill>
            <a:schemeClr val="accent6"/>
          </a:solidFill>
          <a:ln/>
        </p:spPr>
      </p:sp>
      <p:sp>
        <p:nvSpPr>
          <p:cNvPr id="18" name="Text 15"/>
          <p:cNvSpPr txBox="1"/>
          <p:nvPr/>
        </p:nvSpPr>
        <p:spPr>
          <a:xfrm>
            <a:off x="6473952"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Nada cambia, porque el umbral es el mismo</a:t>
            </a:r>
            <a:endParaRPr lang="en-US" sz="1500" dirty="0"/>
          </a:p>
        </p:txBody>
      </p:sp>
      <p:sp>
        <p:nvSpPr>
          <p:cNvPr id="20" name="explicacion-6"/>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6"/>
          <p:cNvSpPr/>
          <p:nvPr/>
        </p:nvSpPr>
        <p:spPr>
          <a:xfrm>
            <a:off x="868680" y="4617720"/>
            <a:ext cx="731520" cy="731520"/>
          </a:xfrm>
          <a:prstGeom prst="ellipse">
            <a:avLst/>
          </a:prstGeom>
          <a:solidFill>
            <a:srgbClr val="F2A33A"/>
          </a:solidFill>
          <a:ln/>
        </p:spPr>
      </p:sp>
      <p:pic>
        <p:nvPicPr>
          <p:cNvPr id="22" name="icono-explicacion6"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A. ¿Por qué?</a:t>
            </a:r>
            <a:endParaRPr lang="en-US" sz="1400" dirty="0"/>
          </a:p>
          <a:p>
            <a:pPr indent="0" marL="0">
              <a:buNone/>
            </a:pPr>
            <a:r>
              <a:rPr lang="en-US" sz="1600" dirty="0">
                <a:solidFill>
                  <a:schemeClr val="tx1"/>
                </a:solidFill>
              </a:rPr>
              <a:t>Es el sesgo de automatización. En la demo, el error pasa de 6,2 % con ρ = 1 a 15,7 % con ρ = 0,2, cerca del 18,1 % sin supervisión. En mamografía, la exactitud de radiólogos inexpertos cayó a 19,8 % con sugerencias erróneas de la IA (Dratsch et al., 2023).</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Pregunta 7 de 7</a:t>
            </a:r>
            <a:endParaRPr lang="en-US" sz="3000" dirty="0"/>
          </a:p>
        </p:txBody>
      </p:sp>
      <p:sp>
        <p:nvSpPr>
          <p:cNvPr id="3" name="pregunta-7"/>
          <p:cNvSpPr/>
          <p:nvPr/>
        </p:nvSpPr>
        <p:spPr>
          <a:xfrm>
            <a:off x="548640" y="1325880"/>
            <a:ext cx="11094415" cy="1325880"/>
          </a:xfrm>
          <a:prstGeom prst="roundRect">
            <a:avLst>
              <a:gd name="adj" fmla="val 8276"/>
            </a:avLst>
          </a:prstGeom>
          <a:solidFill>
            <a:schemeClr val="tx2"/>
          </a:solidFill>
          <a:ln/>
          <a:effectLst>
            <a:outerShdw sx="100000" sy="100000" kx="0" ky="0" algn="bl" rotWithShape="0" blurRad="101600" dist="25400" dir="5400000">
              <a:srgbClr val="0E2A3B">
                <a:alpha val="12000"/>
              </a:srgbClr>
            </a:outerShdw>
          </a:effectLst>
        </p:spPr>
      </p:sp>
      <p:sp>
        <p:nvSpPr>
          <p:cNvPr id="4" name="circulo-pregunta7"/>
          <p:cNvSpPr/>
          <p:nvPr/>
        </p:nvSpPr>
        <p:spPr>
          <a:xfrm>
            <a:off x="868680" y="1600200"/>
            <a:ext cx="777240" cy="777240"/>
          </a:xfrm>
          <a:prstGeom prst="ellipse">
            <a:avLst/>
          </a:prstGeom>
          <a:solidFill>
            <a:srgbClr val="E05A3A"/>
          </a:solidFill>
          <a:ln/>
        </p:spPr>
      </p:sp>
      <p:pic>
        <p:nvPicPr>
          <p:cNvPr id="5" name="icono-pregunta7" descr="preencoded.png">    </p:cNvPr>
          <p:cNvPicPr>
            <a:picLocks noChangeAspect="1"/>
          </p:cNvPicPr>
          <p:nvPr/>
        </p:nvPicPr>
        <p:blipFill>
          <a:blip r:embed="rId1"/>
          <a:stretch>
            <a:fillRect/>
          </a:stretch>
        </p:blipFill>
        <p:spPr>
          <a:xfrm>
            <a:off x="1055218" y="1786738"/>
            <a:ext cx="404165" cy="404165"/>
          </a:xfrm>
          <a:prstGeom prst="rect">
            <a:avLst/>
          </a:prstGeom>
        </p:spPr>
      </p:pic>
      <p:sp>
        <p:nvSpPr>
          <p:cNvPr id="6" name="Text 3"/>
          <p:cNvSpPr txBox="1"/>
          <p:nvPr/>
        </p:nvSpPr>
        <p:spPr>
          <a:xfrm>
            <a:off x="1920240" y="1417320"/>
            <a:ext cx="9448495" cy="1143000"/>
          </a:xfrm>
          <a:prstGeom prst="rect">
            <a:avLst/>
          </a:prstGeom>
          <a:noFill/>
          <a:ln/>
        </p:spPr>
        <p:txBody>
          <a:bodyPr wrap="square" lIns="0" tIns="0" rIns="0" bIns="0" rtlCol="0" anchor="ctr"/>
          <a:lstStyle/>
          <a:p>
            <a:pPr indent="0" marL="0">
              <a:buNone/>
            </a:pPr>
            <a:r>
              <a:rPr lang="en-US" sz="1300" b="1" dirty="0">
                <a:solidFill>
                  <a:schemeClr val="accent3"/>
                </a:solidFill>
              </a:rPr>
              <a:t>Sesgos</a:t>
            </a:r>
            <a:endParaRPr lang="en-US" sz="1400" dirty="0"/>
          </a:p>
          <a:p>
            <a:pPr indent="0" marL="0">
              <a:buNone/>
            </a:pPr>
            <a:r>
              <a:rPr lang="en-US" sz="2100" b="1" dirty="0">
                <a:solidFill>
                  <a:schemeClr val="bg1"/>
                </a:solidFill>
              </a:rPr>
              <a:t>El modelo de la demo nunca ve el grupo del paciente. ¿Por qué aun así aparecen brechas entre grupos?</a:t>
            </a:r>
            <a:endParaRPr lang="en-US" sz="1400" dirty="0"/>
          </a:p>
        </p:txBody>
      </p:sp>
      <p:sp>
        <p:nvSpPr>
          <p:cNvPr id="7" name="opcion-7A"/>
          <p:cNvSpPr/>
          <p:nvPr/>
        </p:nvSpPr>
        <p:spPr>
          <a:xfrm>
            <a:off x="548640"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8" name="letra-7A"/>
          <p:cNvSpPr/>
          <p:nvPr/>
        </p:nvSpPr>
        <p:spPr>
          <a:xfrm>
            <a:off x="822960" y="3337560"/>
            <a:ext cx="640080" cy="640080"/>
          </a:xfrm>
          <a:prstGeom prst="ellipse">
            <a:avLst/>
          </a:prstGeom>
          <a:solidFill>
            <a:schemeClr val="accent1"/>
          </a:solidFill>
          <a:ln/>
        </p:spPr>
      </p:sp>
      <p:sp>
        <p:nvSpPr>
          <p:cNvPr id="9" name="Text 6"/>
          <p:cNvSpPr txBox="1"/>
          <p:nvPr/>
        </p:nvSpPr>
        <p:spPr>
          <a:xfrm>
            <a:off x="822960"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7"/>
          <p:cNvSpPr txBox="1"/>
          <p:nvPr/>
        </p:nvSpPr>
        <p:spPr>
          <a:xfrm>
            <a:off x="1691640"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los datos tienen errores de digitación</a:t>
            </a:r>
            <a:endParaRPr lang="en-US" sz="1800" dirty="0"/>
          </a:p>
        </p:txBody>
      </p:sp>
      <p:sp>
        <p:nvSpPr>
          <p:cNvPr id="11" name="opcion-7B"/>
          <p:cNvSpPr/>
          <p:nvPr/>
        </p:nvSpPr>
        <p:spPr>
          <a:xfrm>
            <a:off x="6245352" y="292608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2" name="letra-7B"/>
          <p:cNvSpPr/>
          <p:nvPr/>
        </p:nvSpPr>
        <p:spPr>
          <a:xfrm>
            <a:off x="6519672" y="3337560"/>
            <a:ext cx="640080" cy="640080"/>
          </a:xfrm>
          <a:prstGeom prst="ellipse">
            <a:avLst/>
          </a:prstGeom>
          <a:solidFill>
            <a:schemeClr val="accent1"/>
          </a:solidFill>
          <a:ln/>
        </p:spPr>
      </p:sp>
      <p:sp>
        <p:nvSpPr>
          <p:cNvPr id="13" name="Text 10"/>
          <p:cNvSpPr txBox="1"/>
          <p:nvPr/>
        </p:nvSpPr>
        <p:spPr>
          <a:xfrm>
            <a:off x="6519672" y="3337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1"/>
          <p:cNvSpPr txBox="1"/>
          <p:nvPr/>
        </p:nvSpPr>
        <p:spPr>
          <a:xfrm>
            <a:off x="7388352" y="306324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el umbral de decisión es aleatorio</a:t>
            </a:r>
            <a:endParaRPr lang="en-US" sz="1800" dirty="0"/>
          </a:p>
        </p:txBody>
      </p:sp>
      <p:sp>
        <p:nvSpPr>
          <p:cNvPr id="15" name="opcion-7C"/>
          <p:cNvSpPr/>
          <p:nvPr/>
        </p:nvSpPr>
        <p:spPr>
          <a:xfrm>
            <a:off x="548640"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16" name="letra-7C"/>
          <p:cNvSpPr/>
          <p:nvPr/>
        </p:nvSpPr>
        <p:spPr>
          <a:xfrm>
            <a:off x="822960" y="5029200"/>
            <a:ext cx="640080" cy="640080"/>
          </a:xfrm>
          <a:prstGeom prst="ellipse">
            <a:avLst/>
          </a:prstGeom>
          <a:solidFill>
            <a:schemeClr val="accent1"/>
          </a:solidFill>
          <a:ln/>
        </p:spPr>
      </p:sp>
      <p:sp>
        <p:nvSpPr>
          <p:cNvPr id="17" name="Text 14"/>
          <p:cNvSpPr txBox="1"/>
          <p:nvPr/>
        </p:nvSpPr>
        <p:spPr>
          <a:xfrm>
            <a:off x="822960"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5"/>
          <p:cNvSpPr txBox="1"/>
          <p:nvPr/>
        </p:nvSpPr>
        <p:spPr>
          <a:xfrm>
            <a:off x="1691640"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la zona de residencia está correlacionada con el grupo y funciona como proxy</a:t>
            </a:r>
            <a:endParaRPr lang="en-US" sz="1800" dirty="0"/>
          </a:p>
        </p:txBody>
      </p:sp>
      <p:sp>
        <p:nvSpPr>
          <p:cNvPr id="19" name="opcion-7D"/>
          <p:cNvSpPr/>
          <p:nvPr/>
        </p:nvSpPr>
        <p:spPr>
          <a:xfrm>
            <a:off x="6245352" y="4617720"/>
            <a:ext cx="5394960" cy="1463040"/>
          </a:xfrm>
          <a:prstGeom prst="roundRect">
            <a:avLst>
              <a:gd name="adj" fmla="val 7500"/>
            </a:avLst>
          </a:prstGeom>
          <a:solidFill>
            <a:schemeClr val="bg2"/>
          </a:solidFill>
          <a:ln/>
          <a:effectLst>
            <a:outerShdw sx="100000" sy="100000" kx="0" ky="0" algn="bl" rotWithShape="0" blurRad="101600" dist="25400" dir="5400000">
              <a:srgbClr val="0E2A3B">
                <a:alpha val="12000"/>
              </a:srgbClr>
            </a:outerShdw>
          </a:effectLst>
        </p:spPr>
      </p:sp>
      <p:sp>
        <p:nvSpPr>
          <p:cNvPr id="20" name="letra-7D"/>
          <p:cNvSpPr/>
          <p:nvPr/>
        </p:nvSpPr>
        <p:spPr>
          <a:xfrm>
            <a:off x="6519672" y="5029200"/>
            <a:ext cx="640080" cy="640080"/>
          </a:xfrm>
          <a:prstGeom prst="ellipse">
            <a:avLst/>
          </a:prstGeom>
          <a:solidFill>
            <a:schemeClr val="accent1"/>
          </a:solidFill>
          <a:ln/>
        </p:spPr>
      </p:sp>
      <p:sp>
        <p:nvSpPr>
          <p:cNvPr id="21" name="Text 18"/>
          <p:cNvSpPr txBox="1"/>
          <p:nvPr/>
        </p:nvSpPr>
        <p:spPr>
          <a:xfrm>
            <a:off x="6519672" y="50292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19"/>
          <p:cNvSpPr txBox="1"/>
          <p:nvPr/>
        </p:nvSpPr>
        <p:spPr>
          <a:xfrm>
            <a:off x="7388352" y="4754880"/>
            <a:ext cx="4023360" cy="1188720"/>
          </a:xfrm>
          <a:prstGeom prst="rect">
            <a:avLst/>
          </a:prstGeom>
          <a:noFill/>
          <a:ln/>
        </p:spPr>
        <p:txBody>
          <a:bodyPr wrap="square" lIns="0" tIns="0" rIns="0" bIns="0" rtlCol="0" anchor="ctr"/>
          <a:lstStyle/>
          <a:p>
            <a:pPr indent="0" marL="0">
              <a:buNone/>
            </a:pPr>
            <a:r>
              <a:rPr lang="en-US" sz="1800" dirty="0">
                <a:solidFill>
                  <a:schemeClr val="tx1"/>
                </a:solidFill>
              </a:rPr>
              <a:t>Porque los valores de Shapley introducen el sesgo</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Respuesta 7 de 7</a:t>
            </a:r>
            <a:endParaRPr lang="en-US" sz="3000" dirty="0"/>
          </a:p>
        </p:txBody>
      </p:sp>
      <p:sp>
        <p:nvSpPr>
          <p:cNvPr id="3" name="Text 1"/>
          <p:cNvSpPr txBox="1"/>
          <p:nvPr/>
        </p:nvSpPr>
        <p:spPr>
          <a:xfrm>
            <a:off x="548640" y="1280160"/>
            <a:ext cx="11094415" cy="548640"/>
          </a:xfrm>
          <a:prstGeom prst="rect">
            <a:avLst/>
          </a:prstGeom>
          <a:noFill/>
          <a:ln/>
        </p:spPr>
        <p:txBody>
          <a:bodyPr wrap="square" lIns="0" tIns="0" rIns="0" bIns="0" rtlCol="0" anchor="ctr"/>
          <a:lstStyle/>
          <a:p>
            <a:pPr indent="0" marL="0">
              <a:buNone/>
            </a:pPr>
            <a:r>
              <a:rPr lang="en-US" sz="1600" i="1" dirty="0">
                <a:solidFill>
                  <a:schemeClr val="accent5"/>
                </a:solidFill>
              </a:rPr>
              <a:t>El modelo de la demo nunca ve el grupo del paciente. ¿Por qué aun así aparecen brechas entre grupos?</a:t>
            </a:r>
            <a:endParaRPr lang="en-US" sz="1600" dirty="0"/>
          </a:p>
        </p:txBody>
      </p:sp>
      <p:sp>
        <p:nvSpPr>
          <p:cNvPr id="4" name="resp-7A"/>
          <p:cNvSpPr/>
          <p:nvPr/>
        </p:nvSpPr>
        <p:spPr>
          <a:xfrm>
            <a:off x="548640"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5" name="resp-letra-7A"/>
          <p:cNvSpPr/>
          <p:nvPr/>
        </p:nvSpPr>
        <p:spPr>
          <a:xfrm>
            <a:off x="777240" y="2148840"/>
            <a:ext cx="548640" cy="548640"/>
          </a:xfrm>
          <a:prstGeom prst="ellipse">
            <a:avLst/>
          </a:prstGeom>
          <a:solidFill>
            <a:schemeClr val="accent6"/>
          </a:solidFill>
          <a:ln/>
        </p:spPr>
      </p:sp>
      <p:sp>
        <p:nvSpPr>
          <p:cNvPr id="6" name="Text 4"/>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7" name="Text 5"/>
          <p:cNvSpPr txBox="1"/>
          <p:nvPr/>
        </p:nvSpPr>
        <p:spPr>
          <a:xfrm>
            <a:off x="1508760"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los datos tienen errores de digitación</a:t>
            </a:r>
            <a:endParaRPr lang="en-US" sz="1500" dirty="0"/>
          </a:p>
        </p:txBody>
      </p:sp>
      <p:sp>
        <p:nvSpPr>
          <p:cNvPr id="8" name="resp-7B"/>
          <p:cNvSpPr/>
          <p:nvPr/>
        </p:nvSpPr>
        <p:spPr>
          <a:xfrm>
            <a:off x="6245352" y="196596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9" name="resp-letra-7B"/>
          <p:cNvSpPr/>
          <p:nvPr/>
        </p:nvSpPr>
        <p:spPr>
          <a:xfrm>
            <a:off x="6473952" y="2148840"/>
            <a:ext cx="548640" cy="548640"/>
          </a:xfrm>
          <a:prstGeom prst="ellipse">
            <a:avLst/>
          </a:prstGeom>
          <a:solidFill>
            <a:schemeClr val="accent6"/>
          </a:solidFill>
          <a:ln/>
        </p:spPr>
      </p:sp>
      <p:sp>
        <p:nvSpPr>
          <p:cNvPr id="10" name="Text 8"/>
          <p:cNvSpPr txBox="1"/>
          <p:nvPr/>
        </p:nvSpPr>
        <p:spPr>
          <a:xfrm>
            <a:off x="6473952"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9"/>
          <p:cNvSpPr txBox="1"/>
          <p:nvPr/>
        </p:nvSpPr>
        <p:spPr>
          <a:xfrm>
            <a:off x="7205472" y="201168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el umbral de decisión es aleatorio</a:t>
            </a:r>
            <a:endParaRPr lang="en-US" sz="1500" dirty="0"/>
          </a:p>
        </p:txBody>
      </p:sp>
      <p:sp>
        <p:nvSpPr>
          <p:cNvPr id="12" name="resp-7C"/>
          <p:cNvSpPr/>
          <p:nvPr/>
        </p:nvSpPr>
        <p:spPr>
          <a:xfrm>
            <a:off x="548640" y="3063240"/>
            <a:ext cx="5394960" cy="914400"/>
          </a:xfrm>
          <a:prstGeom prst="roundRect">
            <a:avLst>
              <a:gd name="adj" fmla="val 12000"/>
            </a:avLst>
          </a:prstGeom>
          <a:solidFill>
            <a:schemeClr val="accent1"/>
          </a:solidFill>
          <a:ln/>
          <a:effectLst>
            <a:outerShdw sx="100000" sy="100000" kx="0" ky="0" algn="bl" rotWithShape="0" blurRad="101600" dist="25400" dir="5400000">
              <a:srgbClr val="0E2A3B">
                <a:alpha val="12000"/>
              </a:srgbClr>
            </a:outerShdw>
          </a:effectLst>
        </p:spPr>
      </p:sp>
      <p:sp>
        <p:nvSpPr>
          <p:cNvPr id="13" name="circulo-correcta7"/>
          <p:cNvSpPr/>
          <p:nvPr/>
        </p:nvSpPr>
        <p:spPr>
          <a:xfrm>
            <a:off x="777240" y="3246120"/>
            <a:ext cx="548640" cy="548640"/>
          </a:xfrm>
          <a:prstGeom prst="ellipse">
            <a:avLst/>
          </a:prstGeom>
          <a:solidFill>
            <a:srgbClr val="FFFFFF"/>
          </a:solidFill>
          <a:ln/>
        </p:spPr>
      </p:sp>
      <p:pic>
        <p:nvPicPr>
          <p:cNvPr id="14" name="icono-correcta7" descr="preencoded.png">    </p:cNvPr>
          <p:cNvPicPr>
            <a:picLocks noChangeAspect="1"/>
          </p:cNvPicPr>
          <p:nvPr/>
        </p:nvPicPr>
        <p:blipFill>
          <a:blip r:embed="rId1"/>
          <a:stretch>
            <a:fillRect/>
          </a:stretch>
        </p:blipFill>
        <p:spPr>
          <a:xfrm>
            <a:off x="908914" y="3377794"/>
            <a:ext cx="285293" cy="285293"/>
          </a:xfrm>
          <a:prstGeom prst="rect">
            <a:avLst/>
          </a:prstGeom>
        </p:spPr>
      </p:pic>
      <p:sp>
        <p:nvSpPr>
          <p:cNvPr id="15" name="Text 12"/>
          <p:cNvSpPr txBox="1"/>
          <p:nvPr/>
        </p:nvSpPr>
        <p:spPr>
          <a:xfrm>
            <a:off x="1508760" y="3108960"/>
            <a:ext cx="4251960" cy="822960"/>
          </a:xfrm>
          <a:prstGeom prst="rect">
            <a:avLst/>
          </a:prstGeom>
          <a:noFill/>
          <a:ln/>
        </p:spPr>
        <p:txBody>
          <a:bodyPr wrap="square" lIns="0" tIns="0" rIns="0" bIns="0" rtlCol="0" anchor="ctr"/>
          <a:lstStyle/>
          <a:p>
            <a:pPr indent="0" marL="0">
              <a:buNone/>
            </a:pPr>
            <a:r>
              <a:rPr lang="en-US" sz="1500" b="1" dirty="0">
                <a:solidFill>
                  <a:schemeClr val="bg1"/>
                </a:solidFill>
              </a:rPr>
              <a:t>C. Porque la zona de residencia está correlacionada con el grupo y funciona como proxy</a:t>
            </a:r>
            <a:endParaRPr lang="en-US" sz="1500" dirty="0"/>
          </a:p>
        </p:txBody>
      </p:sp>
      <p:sp>
        <p:nvSpPr>
          <p:cNvPr id="16" name="resp-7D"/>
          <p:cNvSpPr/>
          <p:nvPr/>
        </p:nvSpPr>
        <p:spPr>
          <a:xfrm>
            <a:off x="6245352" y="3063240"/>
            <a:ext cx="5394960" cy="914400"/>
          </a:xfrm>
          <a:prstGeom prst="roundRect">
            <a:avLst>
              <a:gd name="adj" fmla="val 12000"/>
            </a:avLst>
          </a:prstGeom>
          <a:solidFill>
            <a:schemeClr val="bg2"/>
          </a:solidFill>
          <a:ln/>
          <a:effectLst>
            <a:outerShdw sx="100000" sy="100000" kx="0" ky="0" algn="bl" rotWithShape="0" blurRad="101600" dist="25400" dir="5400000">
              <a:srgbClr val="0E2A3B">
                <a:alpha val="12000"/>
              </a:srgbClr>
            </a:outerShdw>
          </a:effectLst>
        </p:spPr>
      </p:sp>
      <p:sp>
        <p:nvSpPr>
          <p:cNvPr id="17" name="resp-letra-7D"/>
          <p:cNvSpPr/>
          <p:nvPr/>
        </p:nvSpPr>
        <p:spPr>
          <a:xfrm>
            <a:off x="6473952" y="3246120"/>
            <a:ext cx="548640" cy="548640"/>
          </a:xfrm>
          <a:prstGeom prst="ellipse">
            <a:avLst/>
          </a:prstGeom>
          <a:solidFill>
            <a:schemeClr val="accent6"/>
          </a:solidFill>
          <a:ln/>
        </p:spPr>
      </p:sp>
      <p:sp>
        <p:nvSpPr>
          <p:cNvPr id="18" name="Text 15"/>
          <p:cNvSpPr txBox="1"/>
          <p:nvPr/>
        </p:nvSpPr>
        <p:spPr>
          <a:xfrm>
            <a:off x="6473952" y="32461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9" name="Text 16"/>
          <p:cNvSpPr txBox="1"/>
          <p:nvPr/>
        </p:nvSpPr>
        <p:spPr>
          <a:xfrm>
            <a:off x="7205472" y="3108960"/>
            <a:ext cx="4251960" cy="822960"/>
          </a:xfrm>
          <a:prstGeom prst="rect">
            <a:avLst/>
          </a:prstGeom>
          <a:noFill/>
          <a:ln/>
        </p:spPr>
        <p:txBody>
          <a:bodyPr wrap="square" lIns="0" tIns="0" rIns="0" bIns="0" rtlCol="0" anchor="ctr"/>
          <a:lstStyle/>
          <a:p>
            <a:pPr indent="0" marL="0">
              <a:buNone/>
            </a:pPr>
            <a:r>
              <a:rPr lang="en-US" sz="1500" dirty="0">
                <a:solidFill>
                  <a:schemeClr val="accent5"/>
                </a:solidFill>
              </a:rPr>
              <a:t>Porque los valores de Shapley introducen el sesgo</a:t>
            </a:r>
            <a:endParaRPr lang="en-US" sz="1500" dirty="0"/>
          </a:p>
        </p:txBody>
      </p:sp>
      <p:sp>
        <p:nvSpPr>
          <p:cNvPr id="20" name="explicacion-7"/>
          <p:cNvSpPr/>
          <p:nvPr/>
        </p:nvSpPr>
        <p:spPr>
          <a:xfrm>
            <a:off x="548640" y="4297680"/>
            <a:ext cx="11094415" cy="1828800"/>
          </a:xfrm>
          <a:prstGeom prst="roundRect">
            <a:avLst>
              <a:gd name="adj" fmla="val 6000"/>
            </a:avLst>
          </a:prstGeom>
          <a:solidFill>
            <a:schemeClr val="accent1">
              <a:alpha val="10000"/>
            </a:schemeClr>
          </a:solidFill>
          <a:ln/>
        </p:spPr>
      </p:sp>
      <p:sp>
        <p:nvSpPr>
          <p:cNvPr id="21" name="circulo-explicacion7"/>
          <p:cNvSpPr/>
          <p:nvPr/>
        </p:nvSpPr>
        <p:spPr>
          <a:xfrm>
            <a:off x="868680" y="4617720"/>
            <a:ext cx="731520" cy="731520"/>
          </a:xfrm>
          <a:prstGeom prst="ellipse">
            <a:avLst/>
          </a:prstGeom>
          <a:solidFill>
            <a:srgbClr val="F2A33A"/>
          </a:solidFill>
          <a:ln/>
        </p:spPr>
      </p:sp>
      <p:pic>
        <p:nvPicPr>
          <p:cNvPr id="22" name="icono-explicacion7" descr="preencoded.png">    </p:cNvPr>
          <p:cNvPicPr>
            <a:picLocks noChangeAspect="1"/>
          </p:cNvPicPr>
          <p:nvPr/>
        </p:nvPicPr>
        <p:blipFill>
          <a:blip r:embed="rId2"/>
          <a:stretch>
            <a:fillRect/>
          </a:stretch>
        </p:blipFill>
        <p:spPr>
          <a:xfrm>
            <a:off x="1044245" y="4793285"/>
            <a:ext cx="380390" cy="380390"/>
          </a:xfrm>
          <a:prstGeom prst="rect">
            <a:avLst/>
          </a:prstGeom>
        </p:spPr>
      </p:pic>
      <p:sp>
        <p:nvSpPr>
          <p:cNvPr id="23" name="Text 19"/>
          <p:cNvSpPr txBox="1"/>
          <p:nvPr/>
        </p:nvSpPr>
        <p:spPr>
          <a:xfrm>
            <a:off x="1874520" y="4434840"/>
            <a:ext cx="9494215" cy="1554480"/>
          </a:xfrm>
          <a:prstGeom prst="rect">
            <a:avLst/>
          </a:prstGeom>
          <a:noFill/>
          <a:ln/>
        </p:spPr>
        <p:txBody>
          <a:bodyPr wrap="square" lIns="0" tIns="0" rIns="0" bIns="0" rtlCol="0" anchor="ctr"/>
          <a:lstStyle/>
          <a:p>
            <a:pPr indent="0" marL="0">
              <a:buNone/>
            </a:pPr>
            <a:r>
              <a:rPr lang="en-US" sz="1600" b="1" dirty="0">
                <a:solidFill>
                  <a:schemeClr val="accent1"/>
                </a:solidFill>
              </a:rPr>
              <a:t>Correcta: C. ¿Por qué?</a:t>
            </a:r>
            <a:endParaRPr lang="en-US" sz="1400" dirty="0"/>
          </a:p>
          <a:p>
            <a:pPr indent="0" marL="0">
              <a:buNone/>
            </a:pPr>
            <a:r>
              <a:rPr lang="en-US" sz="1600" dirty="0">
                <a:solidFill>
                  <a:schemeClr val="tx1"/>
                </a:solidFill>
              </a:rPr>
              <a:t>Omitir el atributo sensible no basta: el modelo lo recupera a través de un proxy, como el gasto médico en Obermeyer et al. (2019). Además, corregir una brecha mueve otra: la igualdad de errores mejora a la mitad, pero empeora el acierto de las alarmas.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Gracias · Referencias clave</a:t>
            </a:r>
            <a:endParaRPr lang="en-US" sz="3000" dirty="0"/>
          </a:p>
        </p:txBody>
      </p:sp>
      <p:sp>
        <p:nvSpPr>
          <p:cNvPr id="3" name="Text 1"/>
          <p:cNvSpPr txBox="1"/>
          <p:nvPr/>
        </p:nvSpPr>
        <p:spPr>
          <a:xfrm>
            <a:off x="548640" y="1463040"/>
            <a:ext cx="7132320" cy="3931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Bélisle-Pipon (2024). Frontiers in Medicine, 11, 1495582</a:t>
            </a:r>
            <a:endParaRPr lang="en-US" sz="1600" dirty="0"/>
          </a:p>
          <a:p>
            <a:pPr marL="342900" indent="-342900">
              <a:spcAft>
                <a:spcPts val="800"/>
              </a:spcAft>
              <a:buSzPct val="100000"/>
              <a:buChar char="•"/>
            </a:pPr>
            <a:r>
              <a:rPr lang="en-US" sz="1600" dirty="0">
                <a:solidFill>
                  <a:schemeClr val="tx1"/>
                </a:solidFill>
              </a:rPr>
              <a:t>Hicks, Humphries y Slater (2024). Ethics and Information Technology, 26, 38</a:t>
            </a:r>
            <a:endParaRPr lang="en-US" sz="1600" dirty="0"/>
          </a:p>
          <a:p>
            <a:pPr marL="342900" indent="-342900">
              <a:spcAft>
                <a:spcPts val="800"/>
              </a:spcAft>
              <a:buSzPct val="100000"/>
              <a:buChar char="•"/>
            </a:pPr>
            <a:r>
              <a:rPr lang="en-US" sz="1600" dirty="0">
                <a:solidFill>
                  <a:schemeClr val="tx1"/>
                </a:solidFill>
              </a:rPr>
              <a:t>Kalai y Vempala (2024). Calibrated language models must hallucinate. STOC</a:t>
            </a:r>
            <a:endParaRPr lang="en-US" sz="1600" dirty="0"/>
          </a:p>
          <a:p>
            <a:pPr marL="342900" indent="-342900">
              <a:spcAft>
                <a:spcPts val="800"/>
              </a:spcAft>
              <a:buSzPct val="100000"/>
              <a:buChar char="•"/>
            </a:pPr>
            <a:r>
              <a:rPr lang="en-US" sz="1600" dirty="0">
                <a:solidFill>
                  <a:schemeClr val="tx1"/>
                </a:solidFill>
              </a:rPr>
              <a:t>Farquhar et al. (2024). Nature, 630, 625–630</a:t>
            </a:r>
            <a:endParaRPr lang="en-US" sz="1600" dirty="0"/>
          </a:p>
          <a:p>
            <a:pPr marL="342900" indent="-342900">
              <a:spcAft>
                <a:spcPts val="800"/>
              </a:spcAft>
              <a:buSzPct val="100000"/>
              <a:buChar char="•"/>
            </a:pPr>
            <a:r>
              <a:rPr lang="en-US" sz="1600" dirty="0">
                <a:solidFill>
                  <a:schemeClr val="tx1"/>
                </a:solidFill>
              </a:rPr>
              <a:t>Chow (1970). IEEE Transactions on Information Theory, 16, 41–46</a:t>
            </a:r>
            <a:endParaRPr lang="en-US" sz="1600" dirty="0"/>
          </a:p>
          <a:p>
            <a:pPr marL="342900" indent="-342900">
              <a:spcAft>
                <a:spcPts val="800"/>
              </a:spcAft>
              <a:buSzPct val="100000"/>
              <a:buChar char="•"/>
            </a:pPr>
            <a:r>
              <a:rPr lang="en-US" sz="1600" dirty="0">
                <a:solidFill>
                  <a:schemeClr val="tx1"/>
                </a:solidFill>
              </a:rPr>
              <a:t>Dratsch et al. (2023). Radiology, 307, e222176</a:t>
            </a:r>
            <a:endParaRPr lang="en-US" sz="1600" dirty="0"/>
          </a:p>
          <a:p>
            <a:pPr marL="342900" indent="-342900">
              <a:spcAft>
                <a:spcPts val="800"/>
              </a:spcAft>
              <a:buSzPct val="100000"/>
              <a:buChar char="•"/>
            </a:pPr>
            <a:r>
              <a:rPr lang="en-US" sz="1600" dirty="0">
                <a:solidFill>
                  <a:schemeClr val="tx1"/>
                </a:solidFill>
              </a:rPr>
              <a:t>Goh et al. (2024). JAMA Network Open, 7, e2440969</a:t>
            </a:r>
            <a:endParaRPr lang="en-US" sz="1600" dirty="0"/>
          </a:p>
          <a:p>
            <a:pPr marL="342900" indent="-342900">
              <a:spcAft>
                <a:spcPts val="800"/>
              </a:spcAft>
              <a:buSzPct val="100000"/>
              <a:buChar char="•"/>
            </a:pPr>
            <a:r>
              <a:rPr lang="en-US" sz="1600" dirty="0">
                <a:solidFill>
                  <a:schemeClr val="tx1"/>
                </a:solidFill>
              </a:rPr>
              <a:t>Hardt, Price y Srebro (2016). NeurIPS, 29</a:t>
            </a:r>
            <a:endParaRPr lang="en-US" sz="1600" dirty="0"/>
          </a:p>
          <a:p>
            <a:pPr marL="342900" indent="-342900">
              <a:spcAft>
                <a:spcPts val="800"/>
              </a:spcAft>
              <a:buSzPct val="100000"/>
              <a:buChar char="•"/>
            </a:pPr>
            <a:r>
              <a:rPr lang="en-US" sz="1600" dirty="0">
                <a:solidFill>
                  <a:schemeClr val="tx1"/>
                </a:solidFill>
              </a:rPr>
              <a:t>Obermeyer et al. (2019). Science, 366, 447–453</a:t>
            </a:r>
            <a:endParaRPr lang="en-US" sz="1600" dirty="0"/>
          </a:p>
        </p:txBody>
      </p:sp>
      <p:sp>
        <p:nvSpPr>
          <p:cNvPr id="4" name="Text 2"/>
          <p:cNvSpPr txBox="1"/>
          <p:nvPr/>
        </p:nvSpPr>
        <p:spPr>
          <a:xfrm>
            <a:off x="548640" y="5486400"/>
            <a:ext cx="6949440" cy="365760"/>
          </a:xfrm>
          <a:prstGeom prst="rect">
            <a:avLst/>
          </a:prstGeom>
          <a:noFill/>
          <a:ln/>
        </p:spPr>
        <p:txBody>
          <a:bodyPr wrap="square" lIns="0" tIns="0" rIns="0" bIns="0" rtlCol="0" anchor="t"/>
          <a:lstStyle/>
          <a:p>
            <a:pPr indent="0" marL="0">
              <a:buNone/>
            </a:pPr>
            <a:r>
              <a:rPr lang="en-US" sz="1200" i="1" dirty="0">
                <a:solidFill>
                  <a:schemeClr val="accent5"/>
                </a:solidFill>
              </a:rPr>
              <a:t>Lista completa (28 referencias, APA 7) en el paper.</a:t>
            </a:r>
            <a:endParaRPr lang="en-US" sz="1200" dirty="0"/>
          </a:p>
        </p:txBody>
      </p:sp>
      <p:sp>
        <p:nvSpPr>
          <p:cNvPr id="5" name="preguntas"/>
          <p:cNvSpPr/>
          <p:nvPr/>
        </p:nvSpPr>
        <p:spPr>
          <a:xfrm>
            <a:off x="8046720" y="1463040"/>
            <a:ext cx="3566160" cy="4206240"/>
          </a:xfrm>
          <a:prstGeom prst="roundRect">
            <a:avLst>
              <a:gd name="adj" fmla="val 3077"/>
            </a:avLst>
          </a:prstGeom>
          <a:solidFill>
            <a:schemeClr val="tx2"/>
          </a:solidFill>
          <a:ln/>
          <a:effectLst>
            <a:outerShdw sx="100000" sy="100000" kx="0" ky="0" algn="bl" rotWithShape="0" blurRad="101600" dist="25400" dir="5400000">
              <a:srgbClr val="0E2A3B">
                <a:alpha val="12000"/>
              </a:srgbClr>
            </a:outerShdw>
          </a:effectLst>
        </p:spPr>
      </p:sp>
      <p:sp>
        <p:nvSpPr>
          <p:cNvPr id="6" name="circulo-preguntas"/>
          <p:cNvSpPr/>
          <p:nvPr/>
        </p:nvSpPr>
        <p:spPr>
          <a:xfrm>
            <a:off x="9281160" y="2103120"/>
            <a:ext cx="1097280" cy="1097280"/>
          </a:xfrm>
          <a:prstGeom prst="ellipse">
            <a:avLst/>
          </a:prstGeom>
          <a:solidFill>
            <a:srgbClr val="E05A3A"/>
          </a:solidFill>
          <a:ln/>
        </p:spPr>
      </p:sp>
      <p:pic>
        <p:nvPicPr>
          <p:cNvPr id="7" name="icono-preguntas" descr="preencoded.png">    </p:cNvPr>
          <p:cNvPicPr>
            <a:picLocks noChangeAspect="1"/>
          </p:cNvPicPr>
          <p:nvPr/>
        </p:nvPicPr>
        <p:blipFill>
          <a:blip r:embed="rId1"/>
          <a:stretch>
            <a:fillRect/>
          </a:stretch>
        </p:blipFill>
        <p:spPr>
          <a:xfrm>
            <a:off x="9544507" y="2366467"/>
            <a:ext cx="570586" cy="570586"/>
          </a:xfrm>
          <a:prstGeom prst="rect">
            <a:avLst/>
          </a:prstGeom>
        </p:spPr>
      </p:pic>
      <p:sp>
        <p:nvSpPr>
          <p:cNvPr id="8" name="Text 5"/>
          <p:cNvSpPr txBox="1"/>
          <p:nvPr/>
        </p:nvSpPr>
        <p:spPr>
          <a:xfrm>
            <a:off x="8046720" y="3474720"/>
            <a:ext cx="3566160" cy="73152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¿Preguntas?</a:t>
            </a:r>
            <a:endParaRPr lang="en-US" sz="3000" dirty="0"/>
          </a:p>
        </p:txBody>
      </p:sp>
      <p:sp>
        <p:nvSpPr>
          <p:cNvPr id="9" name="Text 6"/>
          <p:cNvSpPr txBox="1"/>
          <p:nvPr/>
        </p:nvSpPr>
        <p:spPr>
          <a:xfrm>
            <a:off x="8046720" y="4297680"/>
            <a:ext cx="3566160" cy="457200"/>
          </a:xfrm>
          <a:prstGeom prst="rect">
            <a:avLst/>
          </a:prstGeom>
          <a:noFill/>
          <a:ln/>
        </p:spPr>
        <p:txBody>
          <a:bodyPr wrap="square" lIns="0" tIns="0" rIns="0" bIns="0" rtlCol="0" anchor="t"/>
          <a:lstStyle/>
          <a:p>
            <a:pPr algn="ctr" indent="0" marL="0">
              <a:buNone/>
            </a:pPr>
            <a:r>
              <a:rPr lang="en-US" sz="1500" dirty="0">
                <a:solidFill>
                  <a:schemeClr val="accent3"/>
                </a:solidFill>
              </a:rPr>
              <a:t>Mateo Rubio · Diego Polanco</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Salud IA">
  <a:themeElements>
    <a:clrScheme name="Salud IA">
      <a:dk1>
        <a:srgbClr val="1B2630"/>
      </a:dk1>
      <a:lt1>
        <a:srgbClr val="FFFFFF"/>
      </a:lt1>
      <a:dk2>
        <a:srgbClr val="0E2A3B"/>
      </a:dk2>
      <a:lt2>
        <a:srgbClr val="EEF4F5"/>
      </a:lt2>
      <a:accent1>
        <a:srgbClr val="127C80"/>
      </a:accent1>
      <a:accent2>
        <a:srgbClr val="E05A3A"/>
      </a:accent2>
      <a:accent3>
        <a:srgbClr val="8FC9C9"/>
      </a:accent3>
      <a:accent4>
        <a:srgbClr val="F2A33A"/>
      </a:accent4>
      <a:accent5>
        <a:srgbClr val="5B6B76"/>
      </a:accent5>
      <a:accent6>
        <a:srgbClr val="C9D6DB"/>
      </a:accent6>
      <a:hlink>
        <a:srgbClr val="127C80"/>
      </a:hlink>
      <a:folHlink>
        <a:srgbClr val="5B6B76"/>
      </a:folHlink>
    </a:clrScheme>
    <a:fontScheme name="Salud 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la alucinación al bullshit</dc:title>
  <dc:subject>Inteligencia Artificial - Universidad ICESI</dc:subject>
  <dc:creator>Mateo Rubio; Diego Polanco</dc:creator>
  <cp:lastModifiedBy>Mateo Rubio; Diego Polanco</cp:lastModifiedBy>
  <cp:revision>1</cp:revision>
  <dcterms:created xsi:type="dcterms:W3CDTF">2026-10-06T20:07:48Z</dcterms:created>
  <dcterms:modified xsi:type="dcterms:W3CDTF">2026-10-06T20:07:48Z</dcterms:modified>
</cp:coreProperties>
</file>